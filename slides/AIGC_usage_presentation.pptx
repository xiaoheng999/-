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17320"/>
            <a:ext cx="8412480" cy="3657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8D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模式识别大作业 ]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1874520"/>
            <a:ext cx="8412480" cy="14630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CCD2D7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大学生生成式 AI</a:t>
            </a:r>
            <a:endParaRPr lang="en-US" sz="3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CCD2D7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使用频率分类模型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3520440"/>
            <a:ext cx="8412480" cy="4572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D9399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基于 1781 份问卷的三分类建模与关键因素分析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D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姓名 · 学号          2026.06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5486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3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[背景] </a:t>
            </a:r>
            <a:pPr indent="0" marL="0">
              <a:buNone/>
            </a:pPr>
            <a:r>
              <a:rPr lang="en-US" sz="2200" b="1" dirty="0">
                <a:solidFill>
                  <a:srgbClr val="63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 </a:t>
            </a:r>
            <a:pPr indent="0" marL="0">
              <a:buNone/>
            </a:pPr>
            <a:r>
              <a:rPr lang="en-US" sz="2200" b="1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研究背景与核心问题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1325880"/>
            <a:ext cx="4114800" cy="29260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lnSpc>
                <a:spcPct val="14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500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生成式 AI 已深度融入大学生的学习与科研。</a:t>
            </a:r>
            <a:endParaRPr lang="en-US" sz="1500" dirty="0"/>
          </a:p>
          <a:p>
            <a:pPr indent="0" marL="0">
              <a:lnSpc>
                <a:spcPct val="14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500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然而，使用频率因人而异——有人日均数十次，有人从未接触。</a:t>
            </a:r>
            <a:endParaRPr lang="en-US" sz="1500" dirty="0"/>
          </a:p>
          <a:p>
            <a:pPr indent="0" marL="0">
              <a:lnSpc>
                <a:spcPct val="1400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理解「谁在用、用多少、为什么」，对教育引导与产品优化都有价值。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846320" y="1463040"/>
            <a:ext cx="3931920" cy="2468880"/>
          </a:xfrm>
          <a:prstGeom prst="rect">
            <a:avLst/>
          </a:prstGeom>
          <a:solidFill>
            <a:srgbClr val="FAFDFF"/>
          </a:solidFill>
          <a:ln w="9525">
            <a:solidFill>
              <a:srgbClr val="D4D8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7492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3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[问题] 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74920" y="21031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哪些因素，决定了一名大学生使用生成式 AI 的频率高低？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5486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3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[数据] </a:t>
            </a:r>
            <a:pPr indent="0" marL="0">
              <a:buNone/>
            </a:pPr>
            <a:r>
              <a:rPr lang="en-US" sz="2200" b="1" dirty="0">
                <a:solidFill>
                  <a:srgbClr val="63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 </a:t>
            </a:r>
            <a:pPr indent="0" marL="0">
              <a:buNone/>
            </a:pPr>
            <a:r>
              <a:rPr lang="en-US" sz="2200" b="1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数据概况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1371600"/>
            <a:ext cx="2743200" cy="9144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202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1781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36576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36A71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份有效问卷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72968" y="1371600"/>
            <a:ext cx="2743200" cy="9144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202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3172968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36A71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个特征（原 78 列）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80176" y="1371600"/>
            <a:ext cx="2743200" cy="9144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202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5980176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36A71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类使用频率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9718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3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[分布] 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3375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低频 8.1%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554480" y="3410712"/>
            <a:ext cx="6035040" cy="182880"/>
          </a:xfrm>
          <a:prstGeom prst="rect">
            <a:avLst/>
          </a:prstGeom>
          <a:solidFill>
            <a:srgbClr val="D4D8DD"/>
          </a:solidFill>
          <a:ln/>
        </p:spPr>
      </p:sp>
      <p:sp>
        <p:nvSpPr>
          <p:cNvPr id="12" name="Shape 10"/>
          <p:cNvSpPr/>
          <p:nvPr/>
        </p:nvSpPr>
        <p:spPr>
          <a:xfrm>
            <a:off x="1554480" y="3410712"/>
            <a:ext cx="488838" cy="182880"/>
          </a:xfrm>
          <a:prstGeom prst="rect">
            <a:avLst/>
          </a:prstGeom>
          <a:solidFill>
            <a:srgbClr val="B9BEC4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37490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中频 73.8%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554480" y="3822192"/>
            <a:ext cx="6035040" cy="182880"/>
          </a:xfrm>
          <a:prstGeom prst="rect">
            <a:avLst/>
          </a:prstGeom>
          <a:solidFill>
            <a:srgbClr val="D4D8DD"/>
          </a:solidFill>
          <a:ln/>
        </p:spPr>
      </p:sp>
      <p:sp>
        <p:nvSpPr>
          <p:cNvPr id="15" name="Shape 13"/>
          <p:cNvSpPr/>
          <p:nvPr/>
        </p:nvSpPr>
        <p:spPr>
          <a:xfrm>
            <a:off x="1554480" y="3822192"/>
            <a:ext cx="4453860" cy="182880"/>
          </a:xfrm>
          <a:prstGeom prst="rect">
            <a:avLst/>
          </a:prstGeom>
          <a:solidFill>
            <a:srgbClr val="6E757D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41605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高频 18.0%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554480" y="4233672"/>
            <a:ext cx="6035040" cy="182880"/>
          </a:xfrm>
          <a:prstGeom prst="rect">
            <a:avLst/>
          </a:prstGeom>
          <a:solidFill>
            <a:srgbClr val="D4D8DD"/>
          </a:solidFill>
          <a:ln/>
        </p:spPr>
      </p:sp>
      <p:sp>
        <p:nvSpPr>
          <p:cNvPr id="18" name="Shape 16"/>
          <p:cNvSpPr/>
          <p:nvPr/>
        </p:nvSpPr>
        <p:spPr>
          <a:xfrm>
            <a:off x="1554480" y="4233672"/>
            <a:ext cx="1086307" cy="182880"/>
          </a:xfrm>
          <a:prstGeom prst="rect">
            <a:avLst/>
          </a:prstGeom>
          <a:solidFill>
            <a:srgbClr val="373E46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5486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3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[预处理] </a:t>
            </a:r>
            <a:pPr indent="0" marL="0">
              <a:buNone/>
            </a:pPr>
            <a:r>
              <a:rPr lang="en-US" sz="2200" b="1" dirty="0">
                <a:solidFill>
                  <a:srgbClr val="63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 </a:t>
            </a:r>
            <a:pPr indent="0" marL="0">
              <a:buNone/>
            </a:pPr>
            <a:r>
              <a:rPr lang="en-US" sz="2200" b="1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数据清洗与特征工程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325880"/>
            <a:ext cx="3931920" cy="3291840"/>
          </a:xfrm>
          <a:prstGeom prst="rect">
            <a:avLst/>
          </a:prstGeom>
          <a:solidFill>
            <a:srgbClr val="FAFDFF"/>
          </a:solidFill>
          <a:ln w="9525">
            <a:solidFill>
              <a:srgbClr val="D4D8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排除的列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36A71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总分、Q15 总体情况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36A71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Q16 该不该使用（近零方差 95.9%）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36A71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学校、序号、所用时间（元数据）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36A71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Q17、Q18 开放文本题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36A71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注意力检测题（34.9% 未通过）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325880"/>
            <a:ext cx="4114800" cy="3291840"/>
          </a:xfrm>
          <a:prstGeom prst="rect">
            <a:avLst/>
          </a:prstGeom>
          <a:solidFill>
            <a:srgbClr val="FAFDFF"/>
          </a:solidFill>
          <a:ln w="9525">
            <a:solidFill>
              <a:srgbClr val="D4D8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编码方式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0" y="192024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One-Hot</a:t>
            </a:r>
            <a:endParaRPr lang="en-US" sz="1300" dirty="0"/>
          </a:p>
          <a:p>
            <a:pPr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636A71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学历 / 专业 / 年级 / 课程偏好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数值型</a:t>
            </a:r>
            <a:endParaRPr lang="en-US" sz="1300" dirty="0"/>
          </a:p>
          <a:p>
            <a:pPr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636A71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重要度 0–100% · 功能排序 · Likert 1–5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原编码 / 聚合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36A71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性别 · 产品使用二值列 → product_count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5486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3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[方法] </a:t>
            </a:r>
            <a:pPr indent="0" marL="0">
              <a:buNone/>
            </a:pPr>
            <a:r>
              <a:rPr lang="en-US" sz="2200" b="1" dirty="0">
                <a:solidFill>
                  <a:srgbClr val="63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 </a:t>
            </a:r>
            <a:pPr indent="0" marL="0">
              <a:buNone/>
            </a:pPr>
            <a:r>
              <a:rPr lang="en-US" sz="2200" b="1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技术路线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34924" y="2148840"/>
            <a:ext cx="1417320" cy="1188720"/>
          </a:xfrm>
          <a:prstGeom prst="rect">
            <a:avLst/>
          </a:prstGeom>
          <a:solidFill>
            <a:srgbClr val="FAFDFF"/>
          </a:solidFill>
          <a:ln w="12700">
            <a:solidFill>
              <a:srgbClr val="6E75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4924" y="22402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4924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数据清洗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特征工程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52244" y="2743200"/>
            <a:ext cx="246888" cy="0"/>
          </a:xfrm>
          <a:prstGeom prst="line">
            <a:avLst/>
          </a:prstGeom>
          <a:noFill/>
          <a:ln w="19050">
            <a:solidFill>
              <a:srgbClr val="6E757D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99132" y="2148840"/>
            <a:ext cx="1417320" cy="1188720"/>
          </a:xfrm>
          <a:prstGeom prst="rect">
            <a:avLst/>
          </a:prstGeom>
          <a:solidFill>
            <a:srgbClr val="FAFDFF"/>
          </a:solidFill>
          <a:ln w="12700">
            <a:solidFill>
              <a:srgbClr val="6E75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9132" y="22402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99132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SMOTE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8:2 分层划分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16452" y="2743200"/>
            <a:ext cx="246888" cy="0"/>
          </a:xfrm>
          <a:prstGeom prst="line">
            <a:avLst/>
          </a:prstGeom>
          <a:noFill/>
          <a:ln w="19050">
            <a:solidFill>
              <a:srgbClr val="6E757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63340" y="2148840"/>
            <a:ext cx="1417320" cy="1188720"/>
          </a:xfrm>
          <a:prstGeom prst="rect">
            <a:avLst/>
          </a:prstGeom>
          <a:solidFill>
            <a:srgbClr val="FAFDFF"/>
          </a:solidFill>
          <a:ln w="12700">
            <a:solidFill>
              <a:srgbClr val="6E75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63340" y="22402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63340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6 模型对比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5 折 CV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80660" y="2743200"/>
            <a:ext cx="246888" cy="0"/>
          </a:xfrm>
          <a:prstGeom prst="line">
            <a:avLst/>
          </a:prstGeom>
          <a:noFill/>
          <a:ln w="19050">
            <a:solidFill>
              <a:srgbClr val="6E757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527548" y="2148840"/>
            <a:ext cx="1417320" cy="1188720"/>
          </a:xfrm>
          <a:prstGeom prst="rect">
            <a:avLst/>
          </a:prstGeom>
          <a:solidFill>
            <a:srgbClr val="FAFDFF"/>
          </a:solidFill>
          <a:ln w="12700">
            <a:solidFill>
              <a:srgbClr val="6E757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27548" y="22402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27548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GridSearch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超参调优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4868" y="2743200"/>
            <a:ext cx="246888" cy="0"/>
          </a:xfrm>
          <a:prstGeom prst="line">
            <a:avLst/>
          </a:prstGeom>
          <a:noFill/>
          <a:ln w="19050">
            <a:solidFill>
              <a:srgbClr val="6E757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191756" y="2148840"/>
            <a:ext cx="1417320" cy="1188720"/>
          </a:xfrm>
          <a:prstGeom prst="rect">
            <a:avLst/>
          </a:prstGeom>
          <a:solidFill>
            <a:srgbClr val="FAFDFF"/>
          </a:solidFill>
          <a:ln w="12700">
            <a:solidFill>
              <a:srgbClr val="6E757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91756" y="22402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91756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三方法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因子分析 + PCA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977640"/>
            <a:ext cx="8412480" cy="3657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A71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评估指标：Macro F1 为主 · 辅以每类 Precision / Recall 与混淆矩阵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5486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3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[实验] </a:t>
            </a:r>
            <a:pPr indent="0" marL="0">
              <a:buNone/>
            </a:pPr>
            <a:r>
              <a:rPr lang="en-US" sz="2200" b="1" dirty="0">
                <a:solidFill>
                  <a:srgbClr val="63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</a:t>
            </a:r>
            <a:pPr indent="0" marL="0">
              <a:buNone/>
            </a:pPr>
            <a:r>
              <a:rPr lang="en-US" sz="2200" b="1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多模型对比 · SVM 最优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1325880"/>
            <a:ext cx="3566160" cy="31089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SVM Macro F1 = 0.4988，六模型最优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Logistic 回归次之 (0.4951)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KNN / 决策树最弱 (&lt; 0.40)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636A71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低频组仅 8.1% 样本，整体分类难度大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206240" y="1280160"/>
            <a:ext cx="4572000" cy="3383280"/>
          </a:xfrm>
          <a:prstGeom prst="rect">
            <a:avLst/>
          </a:prstGeom>
          <a:solidFill>
            <a:srgbClr val="FAFDFF"/>
          </a:solidFill>
          <a:ln w="9525">
            <a:solidFill>
              <a:srgbClr val="D4D8DD"/>
            </a:solidFill>
            <a:prstDash val="solid"/>
          </a:ln>
        </p:spPr>
      </p:sp>
      <p:pic>
        <p:nvPicPr>
          <p:cNvPr id="5" name="Image 0" descr="assets/model_comparison_f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5968" y="1680531"/>
            <a:ext cx="4352544" cy="25825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5486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3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[实验] </a:t>
            </a:r>
            <a:pPr indent="0" marL="0">
              <a:buNone/>
            </a:pPr>
            <a:r>
              <a:rPr lang="en-US" sz="2200" b="1" dirty="0">
                <a:solidFill>
                  <a:srgbClr val="63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</a:t>
            </a:r>
            <a:pPr indent="0" marL="0">
              <a:buNone/>
            </a:pPr>
            <a:r>
              <a:rPr lang="en-US" sz="2200" b="1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5 折交叉验证 · 稳定性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280160"/>
            <a:ext cx="4572000" cy="3383280"/>
          </a:xfrm>
          <a:prstGeom prst="rect">
            <a:avLst/>
          </a:prstGeom>
          <a:solidFill>
            <a:srgbClr val="FAFDFF"/>
          </a:solidFill>
          <a:ln w="9525">
            <a:solidFill>
              <a:srgbClr val="D4D8DD"/>
            </a:solidFill>
            <a:prstDash val="solid"/>
          </a:ln>
        </p:spPr>
      </p:sp>
      <p:pic>
        <p:nvPicPr>
          <p:cNvPr id="4" name="Image 0" descr="assets/cv_box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673075"/>
            <a:ext cx="4352544" cy="25974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12080" y="1554480"/>
            <a:ext cx="3566160" cy="29260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Logistic 回归最稳定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636A71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CV Mean = 0.5134，方差最小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SVM 紧随其后，表现稳健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636A71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各模型折间波动可控，无过拟合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5486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3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[实验] </a:t>
            </a:r>
            <a:pPr indent="0" marL="0">
              <a:buNone/>
            </a:pPr>
            <a:r>
              <a:rPr lang="en-US" sz="2200" b="1" dirty="0">
                <a:solidFill>
                  <a:srgbClr val="63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</a:t>
            </a:r>
            <a:pPr indent="0" marL="0">
              <a:buNone/>
            </a:pPr>
            <a:r>
              <a:rPr lang="en-US" sz="2200" b="1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SVM 混淆矩阵 · 低频组识别难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280160"/>
            <a:ext cx="4206240" cy="3383280"/>
          </a:xfrm>
          <a:prstGeom prst="rect">
            <a:avLst/>
          </a:prstGeom>
          <a:solidFill>
            <a:srgbClr val="FAFDFF"/>
          </a:solidFill>
          <a:ln w="9525">
            <a:solidFill>
              <a:srgbClr val="D4D8DD"/>
            </a:solidFill>
            <a:prstDash val="solid"/>
          </a:ln>
        </p:spPr>
      </p:sp>
      <p:pic>
        <p:nvPicPr>
          <p:cNvPr id="4" name="Image 0" descr="assets/svm_c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557" y="1389888"/>
            <a:ext cx="3518645" cy="31638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46320" y="1554480"/>
            <a:ext cx="3931920" cy="29260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中频（73.8%）识别最准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636A71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低频仅 145 人，大量被误判为中频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高频次之，与中频存在混淆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→ 类别不平衡是核心难点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5486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3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[调优] </a:t>
            </a:r>
            <a:pPr indent="0" marL="0">
              <a:buNone/>
            </a:pPr>
            <a:r>
              <a:rPr lang="en-US" sz="2200" b="1" dirty="0">
                <a:solidFill>
                  <a:srgbClr val="63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 </a:t>
            </a:r>
            <a:pPr indent="0" marL="0">
              <a:buNone/>
            </a:pPr>
            <a:r>
              <a:rPr lang="en-US" sz="2200" b="1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超参数网格搜索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280160"/>
            <a:ext cx="4023360" cy="2743200"/>
          </a:xfrm>
          <a:prstGeom prst="rect">
            <a:avLst/>
          </a:prstGeom>
          <a:solidFill>
            <a:srgbClr val="FAFDFF"/>
          </a:solidFill>
          <a:ln w="9525">
            <a:solidFill>
              <a:srgbClr val="D4D8DD"/>
            </a:solidFill>
            <a:prstDash val="solid"/>
          </a:ln>
        </p:spPr>
      </p:sp>
      <p:pic>
        <p:nvPicPr>
          <p:cNvPr id="4" name="Image 0" descr="assets/heatmap_n_estimators_vs_max_dep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157" y="1389888"/>
            <a:ext cx="3214565" cy="25237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663440" y="1280160"/>
            <a:ext cx="4114800" cy="2743200"/>
          </a:xfrm>
          <a:prstGeom prst="rect">
            <a:avLst/>
          </a:prstGeom>
          <a:solidFill>
            <a:srgbClr val="FAFDFF"/>
          </a:solidFill>
          <a:ln w="9525">
            <a:solidFill>
              <a:srgbClr val="D4D8DD"/>
            </a:solidFill>
            <a:prstDash val="solid"/>
          </a:ln>
        </p:spPr>
      </p:sp>
      <p:pic>
        <p:nvPicPr>
          <p:cNvPr id="6" name="Image 1" descr="assets/line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444179"/>
            <a:ext cx="3895344" cy="2415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4114800"/>
            <a:ext cx="8412480" cy="6400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3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RF ]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n_estimators ≈ 200、max_depth ≈ 20 最佳</a:t>
            </a:r>
            <a:endParaRPr lang="en-US" sz="130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3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SVM ]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C = 10 后性能趋于稳定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5486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3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[因子] </a:t>
            </a:r>
            <a:pPr indent="0" marL="0">
              <a:buNone/>
            </a:pPr>
            <a:r>
              <a:rPr lang="en-US" sz="2200" b="1" dirty="0">
                <a:solidFill>
                  <a:srgbClr val="63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</a:t>
            </a:r>
            <a:pPr indent="0" marL="0">
              <a:buNone/>
            </a:pPr>
            <a:r>
              <a:rPr lang="en-US" sz="2200" b="1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三种方法交叉验证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234440"/>
            <a:ext cx="5486400" cy="3429000"/>
          </a:xfrm>
          <a:prstGeom prst="rect">
            <a:avLst/>
          </a:prstGeom>
          <a:solidFill>
            <a:srgbClr val="FAFDFF"/>
          </a:solidFill>
          <a:ln w="9525">
            <a:solidFill>
              <a:srgbClr val="D4D8DD"/>
            </a:solidFill>
            <a:prstDash val="solid"/>
          </a:ln>
        </p:spPr>
      </p:sp>
      <p:pic>
        <p:nvPicPr>
          <p:cNvPr id="4" name="Image 0" descr="assets/cross_method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464538"/>
            <a:ext cx="5266944" cy="29688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35040" y="1554480"/>
            <a:ext cx="2743200" cy="29260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0272F"/>
                </a:solidFill>
              </a:rPr>
              <a:t>三方法共识</a:t>
            </a:r>
            <a:endParaRPr lang="en-US" sz="14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636A71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[ RF ] 随机森林 Gini 重要性</a:t>
            </a:r>
            <a:endParaRPr lang="en-US" sz="14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636A71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[ Perm ] 排列重要性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36A71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[ SHAP ] Shapley 值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5486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3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[因子] </a:t>
            </a:r>
            <a:pPr indent="0" marL="0">
              <a:buNone/>
            </a:pPr>
            <a:r>
              <a:rPr lang="en-US" sz="2200" b="1" dirty="0">
                <a:solidFill>
                  <a:srgbClr val="63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</a:t>
            </a:r>
            <a:pPr indent="0" marL="0">
              <a:buNone/>
            </a:pPr>
            <a:r>
              <a:rPr lang="en-US" sz="2200" b="1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SHAP 深度分析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280160"/>
            <a:ext cx="4846320" cy="3383280"/>
          </a:xfrm>
          <a:prstGeom prst="rect">
            <a:avLst/>
          </a:prstGeom>
          <a:solidFill>
            <a:srgbClr val="FAFDFF"/>
          </a:solidFill>
          <a:ln w="9525">
            <a:solidFill>
              <a:srgbClr val="D4D8DD"/>
            </a:solidFill>
            <a:prstDash val="solid"/>
          </a:ln>
        </p:spPr>
      </p:sp>
      <p:pic>
        <p:nvPicPr>
          <p:cNvPr id="4" name="Image 0" descr="assets/shap_beeswa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602981"/>
            <a:ext cx="4626864" cy="27376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94960" y="1554480"/>
            <a:ext cx="3383280" cy="29260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product_count 影响最显著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636A71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高取值正向推高使用频率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文本生成功能使用排第二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636A71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性别、文心一言为次级驱动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5486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3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[因子] </a:t>
            </a:r>
            <a:pPr indent="0" marL="0">
              <a:buNone/>
            </a:pPr>
            <a:r>
              <a:rPr lang="en-US" sz="2200" b="1" dirty="0">
                <a:solidFill>
                  <a:srgbClr val="63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</a:t>
            </a:r>
            <a:pPr indent="0" marL="0">
              <a:buNone/>
            </a:pPr>
            <a:r>
              <a:rPr lang="en-US" sz="2200" b="1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共识排名 · Top 5 关键因素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463040"/>
          <a:ext cx="69494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57200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CD2D7"/>
                          </a:solidFill>
                          <a:latin typeface="阿里巴巴普惠体" pitchFamily="34" charset="0"/>
                          <a:ea typeface="阿里巴巴普惠体" pitchFamily="34" charset="-122"/>
                          <a:cs typeface="阿里巴巴普惠体" pitchFamily="34" charset="-120"/>
                        </a:rPr>
                        <a:t>排名</a:t>
                      </a:r>
                      <a:endParaRPr lang="en-US" sz="1400" dirty="0">
                        <a:latin typeface="阿里巴巴普惠体" charset="0"/>
                        <a:ea typeface="阿里巴巴普惠体" charset="0"/>
                        <a:cs typeface="阿里巴巴普惠体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F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CCD2D7"/>
                          </a:solidFill>
                          <a:latin typeface="阿里巴巴普惠体" pitchFamily="34" charset="0"/>
                          <a:ea typeface="阿里巴巴普惠体" pitchFamily="34" charset="-122"/>
                          <a:cs typeface="阿里巴巴普惠体" pitchFamily="34" charset="-120"/>
                        </a:rPr>
                        <a:t>关键特征</a:t>
                      </a:r>
                      <a:endParaRPr lang="en-US" sz="1400" dirty="0">
                        <a:latin typeface="阿里巴巴普惠体" charset="0"/>
                        <a:ea typeface="阿里巴巴普惠体" charset="0"/>
                        <a:cs typeface="阿里巴巴普惠体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F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CD2D7"/>
                          </a:solidFill>
                          <a:latin typeface="阿里巴巴普惠体" pitchFamily="34" charset="0"/>
                          <a:ea typeface="阿里巴巴普惠体" pitchFamily="34" charset="-122"/>
                          <a:cs typeface="阿里巴巴普惠体" pitchFamily="34" charset="-120"/>
                        </a:rPr>
                        <a:t>平均排名</a:t>
                      </a:r>
                      <a:endParaRPr lang="en-US" sz="1400" dirty="0">
                        <a:latin typeface="阿里巴巴普惠体" charset="0"/>
                        <a:ea typeface="阿里巴巴普惠体" charset="0"/>
                        <a:cs typeface="阿里巴巴普惠体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F3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CD2D7"/>
                          </a:solidFill>
                          <a:latin typeface="阿里巴巴普惠体" pitchFamily="34" charset="0"/>
                          <a:ea typeface="阿里巴巴普惠体" pitchFamily="34" charset="-122"/>
                          <a:cs typeface="阿里巴巴普惠体" pitchFamily="34" charset="-120"/>
                        </a:rPr>
                        <a:t>1</a:t>
                      </a:r>
                      <a:endParaRPr lang="en-US" sz="1400" dirty="0">
                        <a:latin typeface="阿里巴巴普惠体" charset="0"/>
                        <a:ea typeface="阿里巴巴普惠体" charset="0"/>
                        <a:cs typeface="阿里巴巴普惠体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757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CCD2D7"/>
                          </a:solidFill>
                          <a:latin typeface="阿里巴巴普惠体" pitchFamily="34" charset="0"/>
                          <a:ea typeface="阿里巴巴普惠体" pitchFamily="34" charset="-122"/>
                          <a:cs typeface="阿里巴巴普惠体" pitchFamily="34" charset="-120"/>
                        </a:rPr>
                        <a:t>使用产品数量 product_count</a:t>
                      </a:r>
                      <a:endParaRPr lang="en-US" sz="1400" dirty="0">
                        <a:latin typeface="阿里巴巴普惠体" charset="0"/>
                        <a:ea typeface="阿里巴巴普惠体" charset="0"/>
                        <a:cs typeface="阿里巴巴普惠体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75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CD2D7"/>
                          </a:solidFill>
                          <a:latin typeface="阿里巴巴普惠体" pitchFamily="34" charset="0"/>
                          <a:ea typeface="阿里巴巴普惠体" pitchFamily="34" charset="-122"/>
                          <a:cs typeface="阿里巴巴普惠体" pitchFamily="34" charset="-120"/>
                        </a:rPr>
                        <a:t>1.3</a:t>
                      </a:r>
                      <a:endParaRPr lang="en-US" sz="1400" dirty="0">
                        <a:latin typeface="阿里巴巴普惠体" charset="0"/>
                        <a:ea typeface="阿里巴巴普惠体" charset="0"/>
                        <a:cs typeface="阿里巴巴普惠体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757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0272F"/>
                          </a:solidFill>
                          <a:latin typeface="阿里巴巴普惠体" pitchFamily="34" charset="0"/>
                          <a:ea typeface="阿里巴巴普惠体" pitchFamily="34" charset="-122"/>
                          <a:cs typeface="阿里巴巴普惠体" pitchFamily="34" charset="-120"/>
                        </a:rPr>
                        <a:t>2</a:t>
                      </a:r>
                      <a:endParaRPr lang="en-US" sz="1400" dirty="0">
                        <a:latin typeface="阿里巴巴普惠体" charset="0"/>
                        <a:ea typeface="阿里巴巴普惠体" charset="0"/>
                        <a:cs typeface="阿里巴巴普惠体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72F"/>
                          </a:solidFill>
                          <a:latin typeface="阿里巴巴普惠体" pitchFamily="34" charset="0"/>
                          <a:ea typeface="阿里巴巴普惠体" pitchFamily="34" charset="-122"/>
                          <a:cs typeface="阿里巴巴普惠体" pitchFamily="34" charset="-120"/>
                        </a:rPr>
                        <a:t>文本生成功能使用</a:t>
                      </a:r>
                      <a:endParaRPr lang="en-US" sz="1400" dirty="0">
                        <a:latin typeface="阿里巴巴普惠体" charset="0"/>
                        <a:ea typeface="阿里巴巴普惠体" charset="0"/>
                        <a:cs typeface="阿里巴巴普惠体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0272F"/>
                          </a:solidFill>
                          <a:latin typeface="阿里巴巴普惠体" pitchFamily="34" charset="0"/>
                          <a:ea typeface="阿里巴巴普惠体" pitchFamily="34" charset="-122"/>
                          <a:cs typeface="阿里巴巴普惠体" pitchFamily="34" charset="-120"/>
                        </a:rPr>
                        <a:t>3.0</a:t>
                      </a:r>
                      <a:endParaRPr lang="en-US" sz="1400" dirty="0">
                        <a:latin typeface="阿里巴巴普惠体" charset="0"/>
                        <a:ea typeface="阿里巴巴普惠体" charset="0"/>
                        <a:cs typeface="阿里巴巴普惠体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0272F"/>
                          </a:solidFill>
                          <a:latin typeface="阿里巴巴普惠体" pitchFamily="34" charset="0"/>
                          <a:ea typeface="阿里巴巴普惠体" pitchFamily="34" charset="-122"/>
                          <a:cs typeface="阿里巴巴普惠体" pitchFamily="34" charset="-120"/>
                        </a:rPr>
                        <a:t>3</a:t>
                      </a:r>
                      <a:endParaRPr lang="en-US" sz="1400" dirty="0">
                        <a:latin typeface="阿里巴巴普惠体" charset="0"/>
                        <a:ea typeface="阿里巴巴普惠体" charset="0"/>
                        <a:cs typeface="阿里巴巴普惠体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72F"/>
                          </a:solidFill>
                          <a:latin typeface="阿里巴巴普惠体" pitchFamily="34" charset="0"/>
                          <a:ea typeface="阿里巴巴普惠体" pitchFamily="34" charset="-122"/>
                          <a:cs typeface="阿里巴巴普惠体" pitchFamily="34" charset="-120"/>
                        </a:rPr>
                        <a:t>文心一言使用</a:t>
                      </a:r>
                      <a:endParaRPr lang="en-US" sz="1400" dirty="0">
                        <a:latin typeface="阿里巴巴普惠体" charset="0"/>
                        <a:ea typeface="阿里巴巴普惠体" charset="0"/>
                        <a:cs typeface="阿里巴巴普惠体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0272F"/>
                          </a:solidFill>
                          <a:latin typeface="阿里巴巴普惠体" pitchFamily="34" charset="0"/>
                          <a:ea typeface="阿里巴巴普惠体" pitchFamily="34" charset="-122"/>
                          <a:cs typeface="阿里巴巴普惠体" pitchFamily="34" charset="-120"/>
                        </a:rPr>
                        <a:t>4.0</a:t>
                      </a:r>
                      <a:endParaRPr lang="en-US" sz="1400" dirty="0">
                        <a:latin typeface="阿里巴巴普惠体" charset="0"/>
                        <a:ea typeface="阿里巴巴普惠体" charset="0"/>
                        <a:cs typeface="阿里巴巴普惠体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0272F"/>
                          </a:solidFill>
                          <a:latin typeface="阿里巴巴普惠体" pitchFamily="34" charset="0"/>
                          <a:ea typeface="阿里巴巴普惠体" pitchFamily="34" charset="-122"/>
                          <a:cs typeface="阿里巴巴普惠体" pitchFamily="34" charset="-120"/>
                        </a:rPr>
                        <a:t>4</a:t>
                      </a:r>
                      <a:endParaRPr lang="en-US" sz="1400" dirty="0">
                        <a:latin typeface="阿里巴巴普惠体" charset="0"/>
                        <a:ea typeface="阿里巴巴普惠体" charset="0"/>
                        <a:cs typeface="阿里巴巴普惠体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72F"/>
                          </a:solidFill>
                          <a:latin typeface="阿里巴巴普惠体" pitchFamily="34" charset="0"/>
                          <a:ea typeface="阿里巴巴普惠体" pitchFamily="34" charset="-122"/>
                          <a:cs typeface="阿里巴巴普惠体" pitchFamily="34" charset="-120"/>
                        </a:rPr>
                        <a:t>性别</a:t>
                      </a:r>
                      <a:endParaRPr lang="en-US" sz="1400" dirty="0">
                        <a:latin typeface="阿里巴巴普惠体" charset="0"/>
                        <a:ea typeface="阿里巴巴普惠体" charset="0"/>
                        <a:cs typeface="阿里巴巴普惠体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0272F"/>
                          </a:solidFill>
                          <a:latin typeface="阿里巴巴普惠体" pitchFamily="34" charset="0"/>
                          <a:ea typeface="阿里巴巴普惠体" pitchFamily="34" charset="-122"/>
                          <a:cs typeface="阿里巴巴普惠体" pitchFamily="34" charset="-120"/>
                        </a:rPr>
                        <a:t>7.7</a:t>
                      </a:r>
                      <a:endParaRPr lang="en-US" sz="1400" dirty="0">
                        <a:latin typeface="阿里巴巴普惠体" charset="0"/>
                        <a:ea typeface="阿里巴巴普惠体" charset="0"/>
                        <a:cs typeface="阿里巴巴普惠体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0272F"/>
                          </a:solidFill>
                          <a:latin typeface="阿里巴巴普惠体" pitchFamily="34" charset="0"/>
                          <a:ea typeface="阿里巴巴普惠体" pitchFamily="34" charset="-122"/>
                          <a:cs typeface="阿里巴巴普惠体" pitchFamily="34" charset="-120"/>
                        </a:rPr>
                        <a:t>5</a:t>
                      </a:r>
                      <a:endParaRPr lang="en-US" sz="1400" dirty="0">
                        <a:latin typeface="阿里巴巴普惠体" charset="0"/>
                        <a:ea typeface="阿里巴巴普惠体" charset="0"/>
                        <a:cs typeface="阿里巴巴普惠体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272F"/>
                          </a:solidFill>
                          <a:latin typeface="阿里巴巴普惠体" pitchFamily="34" charset="0"/>
                          <a:ea typeface="阿里巴巴普惠体" pitchFamily="34" charset="-122"/>
                          <a:cs typeface="阿里巴巴普惠体" pitchFamily="34" charset="-120"/>
                        </a:rPr>
                        <a:t>ChatGPT 使用</a:t>
                      </a:r>
                      <a:endParaRPr lang="en-US" sz="1400" dirty="0">
                        <a:latin typeface="阿里巴巴普惠体" charset="0"/>
                        <a:ea typeface="阿里巴巴普惠体" charset="0"/>
                        <a:cs typeface="阿里巴巴普惠体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0272F"/>
                          </a:solidFill>
                          <a:latin typeface="阿里巴巴普惠体" pitchFamily="34" charset="0"/>
                          <a:ea typeface="阿里巴巴普惠体" pitchFamily="34" charset="-122"/>
                          <a:cs typeface="阿里巴巴普惠体" pitchFamily="34" charset="-120"/>
                        </a:rPr>
                        <a:t>8.3</a:t>
                      </a:r>
                      <a:endParaRPr lang="en-US" sz="1400" dirty="0">
                        <a:latin typeface="阿里巴巴普惠体" charset="0"/>
                        <a:ea typeface="阿里巴巴普惠体" charset="0"/>
                        <a:cs typeface="阿里巴巴普惠体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5486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3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[可视化] </a:t>
            </a:r>
            <a:pPr indent="0" marL="0">
              <a:buNone/>
            </a:pPr>
            <a:r>
              <a:rPr lang="en-US" sz="2200" b="1" dirty="0">
                <a:solidFill>
                  <a:srgbClr val="636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 </a:t>
            </a:r>
            <a:pPr indent="0" marL="0">
              <a:buNone/>
            </a:pPr>
            <a:r>
              <a:rPr lang="en-US" sz="2200" b="1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PCA 降维可视化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280160"/>
            <a:ext cx="3931920" cy="3383280"/>
          </a:xfrm>
          <a:prstGeom prst="rect">
            <a:avLst/>
          </a:prstGeom>
          <a:solidFill>
            <a:srgbClr val="FAFDFF"/>
          </a:solidFill>
          <a:ln w="9525">
            <a:solidFill>
              <a:srgbClr val="D4D8DD"/>
            </a:solidFill>
            <a:prstDash val="solid"/>
          </a:ln>
        </p:spPr>
      </p:sp>
      <p:pic>
        <p:nvPicPr>
          <p:cNvPr id="4" name="Image 0" descr="assets/pca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489256"/>
            <a:ext cx="3712464" cy="296508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0" y="1554480"/>
            <a:ext cx="4206240" cy="29260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PC1 解释方差 17.4%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PC2 解释方差 5.8%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636A71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三类用户在降维空间存在重叠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20272F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→ 使用频率受多因素共同作用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5486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D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结论 ] </a:t>
            </a:r>
            <a:pPr indent="0" marL="0">
              <a:buNone/>
            </a:pPr>
            <a:r>
              <a:rPr lang="en-US" sz="2200" b="1" dirty="0">
                <a:solidFill>
                  <a:srgbClr val="CCD2D7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关键发现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234440"/>
            <a:ext cx="4069080" cy="1600200"/>
          </a:xfrm>
          <a:prstGeom prst="rect">
            <a:avLst/>
          </a:prstGeom>
          <a:solidFill>
            <a:srgbClr val="272F37"/>
          </a:solidFill>
          <a:ln w="6350">
            <a:solidFill>
              <a:srgbClr val="373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D2D7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产品数量最强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D9399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product_count 与频率相关 r = 0.364，居三方法之首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234440"/>
            <a:ext cx="4069080" cy="1600200"/>
          </a:xfrm>
          <a:prstGeom prst="rect">
            <a:avLst/>
          </a:prstGeom>
          <a:solidFill>
            <a:srgbClr val="272F37"/>
          </a:solidFill>
          <a:ln w="6350">
            <a:solidFill>
              <a:srgbClr val="373E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371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16916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D2D7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文本生成功能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92040" y="210312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D9399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是区分使用频率高低的重要行为信号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108960"/>
            <a:ext cx="4069080" cy="1600200"/>
          </a:xfrm>
          <a:prstGeom prst="rect">
            <a:avLst/>
          </a:prstGeom>
          <a:solidFill>
            <a:srgbClr val="272F37"/>
          </a:solidFill>
          <a:ln w="6350">
            <a:solidFill>
              <a:srgbClr val="373E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46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56616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D2D7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性别显著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397764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D9399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性别对使用频率存在系统性影响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3108960"/>
            <a:ext cx="4069080" cy="1600200"/>
          </a:xfrm>
          <a:prstGeom prst="rect">
            <a:avLst/>
          </a:prstGeom>
          <a:solidFill>
            <a:srgbClr val="272F37"/>
          </a:solidFill>
          <a:ln w="6350">
            <a:solidFill>
              <a:srgbClr val="373E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246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356616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D2D7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SVM 最优但受限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92040" y="397764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D9399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Macro F1 = 0.4988，受低频样本 8.1% 限制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1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5486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D9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局限 ] </a:t>
            </a:r>
            <a:pPr indent="0" marL="0">
              <a:buNone/>
            </a:pPr>
            <a:r>
              <a:rPr lang="en-US" sz="2200" b="1" dirty="0">
                <a:solidFill>
                  <a:srgbClr val="CCD2D7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局限与展望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D2D7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局限性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65760" y="1691640"/>
            <a:ext cx="3931920" cy="20116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399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低频样本仅 8.1%，少数类难识别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399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Q14 注意力题 34.9% 未通过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399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PCA 投影下三类存在重叠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663440" y="1280160"/>
            <a:ext cx="4114800" cy="3657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D2D7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展望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663440" y="1691640"/>
            <a:ext cx="4114800" cy="20116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399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扩充低频样本、重采样策略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399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引入特征选择与交互项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399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尝试梯度提升 / 神经网络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297680"/>
            <a:ext cx="8412480" cy="3657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399"/>
                </a:solidFill>
                <a:latin typeface="阿里巴巴普惠体" pitchFamily="34" charset="0"/>
                <a:ea typeface="阿里巴巴普惠体" pitchFamily="34" charset="-122"/>
                <a:cs typeface="阿里巴巴普惠体" pitchFamily="34" charset="-120"/>
              </a:rPr>
              <a:t>感谢聆听 · 欢迎提问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大学生 AIGC 使用频率分类模型</dc:title>
  <dc:subject>PptxGenJS Presentation</dc:subject>
  <dc:creator>你的名字</dc:creator>
  <cp:lastModifiedBy>你的名字</cp:lastModifiedBy>
  <cp:revision>1</cp:revision>
  <dcterms:created xsi:type="dcterms:W3CDTF">2026-06-14T02:53:30Z</dcterms:created>
  <dcterms:modified xsi:type="dcterms:W3CDTF">2026-06-14T02:53:30Z</dcterms:modified>
</cp:coreProperties>
</file>