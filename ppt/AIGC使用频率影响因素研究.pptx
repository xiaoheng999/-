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。我汇报的题目是，大学生生成式人工智能使用频率影响因素研究。这是一项基于一千七百八十一份问卷的机器学习分类与因子分析。整项工作想回答的，是一个很朴素的问题：到底是什么因素，决定了同学们使用生成式AI的频率高低。下面我从研究背景、数据方法、三大实验结果和最终结论四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背景。生成式人工智能正在快速渗透大学生的学习和生活，但不同同学的使用频率差异很大，出现了明显的群体分化。我们手上有覆盖多元维度的一千七百八十一份问卷数据。由此引出本研究的核心问题：哪些因素，决定了大学生使用生成式AI的频率高低。这个问题决定了我们后面所有分析的方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按结论先行的思路，我把四个最关键的发现先摆出来。第一，在六个模型里，支持向量机表现最好，宏F1达到零点四九八八，调优后交叉验证进一步提升到零点五二零。第二，最强的预测因子是使用产品的数量，三方法共识排名第一，与频率的相关达到零点三六四。第三，样本规模一千七百八十一份、六十四个特征，目标是低中高三分类。第四，主要局限是低频组只占百分之八点一，样本极度不平衡，这是整体分类难度被拖累的根源。后面每一页都是这四个发现的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数据全貌。一千七百八十一份问卷，原始七十八列，经特征工程后约六十四个建模特征。请重点看左边这个环形图：中频用户占百分之七十三点八，是绝对多数；高频用户百分之十八；而低频用户只有百分之八点一，仅一百四十五人。右边的表展示了九个特征组的构成。一句话总结：样本量是够的，但类别极度偏斜，这就是后续建模难度的根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标签和清洗，这是结果可信的前提。左边是标签构造：我们把第九题的使用频率重编码为三档——从未使用归为低频；一周一到十次归为中频；一周十一次以上全部归为高频。右边是数据清洗，共剔除八类列。最关键的是第十五题和量表总分，因为它们和目标存在泄漏，相关达到零点二三五；第十六题百分之九十五点九的人都选应该，几乎没有区分度；还有注意力检测题，近三成五未通过，一并筛除。清洗后进入建模的是约六十四个特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我们的统一管线。建模流程四步走：先在训练集内做SMOTE过采样，注意只在训练集做，测试集保持原始分布以防泄漏；再做八二分层划分；然后五折交叉验证稳健估计；最后以宏F1为主指标，辅以每类查准查全和混淆矩阵。在这个统一管线上跑了三大实验：一是六个模型多模型对比，二是四个关键模型的超参数调优，三是用随机森林、Permutation和SHAP三种方法做因子重要性共识排名。三大实验层层递进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第一个实验：多模型对比。结论是支持向量机和逻辑回归并列最优，整体受低频样本稀疏拖累。请看左边的柱状图和排名表：支持向量机宏F1最高，零点四九八八；逻辑回归紧随其后零点四九五；有趣的是在交叉验证均值上，逻辑回归零点五一三反超了支持向量机，说明它更稳；随机森林第三；朴素贝叶斯、决策树、KNN偏弱。整体F1偏低，根本原因还是低频组只有百分之八点一的样本量不足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深入诊断模型到底难在哪。结论是：模型在中频类上稳健，但低频和高频的边界识别很困难。左边的各类别指标显示，中频类的查准率和查全率都最高；两端的低频和高频明显偏低。右边的混淆矩阵是最优模型支持向量机的，可以看到误判主要集中在相邻级别之间，也就是低频和中频、中频和高频之间，很少出现跨级混淆。这说明模型抓住了频率梯度，只是端点样本太稀少，限制了精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实验是超参数调优。结论是：网格搜索调优后，支持向量机的交叉验证宏F1从零点四八六提升到了零点五二零。左边两张图是支持向量机的搜索结果，热力图和折线都显示，惩罚系数偏小、核函数取线性时表现最好，这反映出特征关系近似线性可分。右边的表给出四个模型各自的最优超参：支持向量机零点五二零，随机森林零点五一五，决策树零点四七六，KNN零点四零三。调优收益主要来自支持向量机本身，它成为全局最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实验是最有价值的部分：因子重要性。结论是，使用产品数量、文本生成功能、以及特定产品的使用，是最强预测因子。左边的跨方法对比图显示，随机森林、Permutation、SHAP三种方法高度一致，这本身就让结论很稳健。右边是我手绘的共识排名前十：使用产品数量遥遥领先排第一；文本生成排第二；文心一言使用排第三；性别、ChatGPT使用、年级、文理科也都进入前十。一句话：用得多不多，本质上是用得广不广、用得深不深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SHAP把因子分析再深化一层。结论是：SHAP既确认了全局结论，又揭示了高低频群体的差异化驱动。左边的蜂群图，红色点代表特征取高值、蓝色代表低值，点越偏右越推向高频使用。右边三张卡片是我的解读：全局上产品数量高、用文本生成和调试代码的人，频率更高；高频群体受产品广度和编程功能驱动；而低频群体常与产品单一、不用文本和代码功能相伴。同一组强因子，对高频是推力，对低频是阻力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PCA做一个降维可视化，作为分类难度的几何证据。结论是：三类用户在低维空间高度重叠，频率由多因素共同塑造。请看左边，前两个主成分加起来只解释了百分之二十三点三的方差，PC1百分之十七点四，PC2只有百分之五点八。我框出来的中部区域，三类用户大面积重叠。这说明没有哪一个单一维度能把三类线性切开。使用频率是一个高维多因素现象，必须多特征联合建模，这也解释了为什么宏F1难以突破零点五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结论页。一句话总结：产品广度与功能取向是频率主因，样本不平衡是核心瓶颈。左边四点结论：一是使用产品数量是最强预测因子，相关零点三六四；二是文本生成功能是关键区分因素；三是性别和学科背景也有显著影响；四是支持向量机最优，但整体难度大，受低频样本不足限制。右边列出了局限和展望。局限是低频样本极少、PCA可分性低、问卷有自填偏差；展望是针对低频组的精细过采样、引入非线性模型、以及纵向追踪频率的动态变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我的全部汇报。这项工作同时给出了"为什么"和"还差什么"：我们找到了影响使用频率的关键因素，也明确了低频样本稀缺这个核心瓶颈和后续改进方向。感谢老师与同学的指导和建议，欢迎大家提问与指正。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ce09d8d01f80f2a.png"/>
  <Relationship Id="rId3" Type="http://schemas.openxmlformats.org/officeDocument/2006/relationships/image" Target="../media/image_475de0374b885cba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e84bb81c21c4698.png"/>
  <Relationship Id="rId3" Type="http://schemas.openxmlformats.org/officeDocument/2006/relationships/image" Target="../media/image_9cebb10aaf272f66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cefcc92afbb49d0.png"/>
  <Relationship Id="rId3" Type="http://schemas.openxmlformats.org/officeDocument/2006/relationships/image" Target="../media/image_69dd511058047334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eaae30db03ad48a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238f75f7ec8a30c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cc2aa5738099cfd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3C6E">
                    <a:alpha val="12000"/>
                  </a:srgbClr>
                </a:gs>
                <a:gs pos="100000">
                  <a:srgbClr val="1A3C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76200"/>
              <a:ext cx="12192000" cy="19050"/>
            </a:xfrm>
            <a:prstGeom prst="rect">
              <a:avLst/>
            </a:prstGeom>
            <a:solidFill>
              <a:srgbClr val="1A3C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738" y="1039178"/>
            <a:ext cx="3016648" cy="213360"/>
            <a:chOff x="566738" y="1039178"/>
            <a:chExt cx="3016648" cy="213360"/>
          </a:xfrm>
        </p:grpSpPr>
        <p:sp>
          <p:nvSpPr>
            <p:cNvPr id="7" name="Ellipse 7"/>
            <p:cNvSpPr/>
            <p:nvPr/>
          </p:nvSpPr>
          <p:spPr>
            <a:xfrm>
              <a:off x="566738" y="1062038"/>
              <a:ext cx="85725" cy="85725"/>
            </a:xfrm>
            <a:prstGeom prst="ellipse">
              <a:avLst/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039178"/>
              <a:ext cx="28347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PATTERN RECOGNITION · COURSE PROJECT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12445" y="2260282"/>
            <a:ext cx="6318885" cy="2178368"/>
            <a:chOff x="512445" y="2260282"/>
            <a:chExt cx="6318885" cy="2178368"/>
          </a:xfrm>
        </p:grpSpPr>
        <p:sp>
          <p:nvSpPr>
            <p:cNvPr id="10" name="TextBox 10"/>
            <p:cNvSpPr txBox="1"/>
            <p:nvPr/>
          </p:nvSpPr>
          <p:spPr>
            <a:xfrm>
              <a:off x="512445" y="2260282"/>
              <a:ext cx="6318885" cy="1687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850"/>
                </a:lnSpc>
              </a:pPr>
              <a:r>
                <a:rPr lang="zh-CN" sz="46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大学生生成式人工智能</a:t>
              </a:r>
              <a:r>
                <a:rPr lang="zh-CN" sz="46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使用频率影响因素研究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0550" y="3733800"/>
              <a:ext cx="800100" cy="57150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8640" y="4072890"/>
              <a:ext cx="47983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 xml:space="preserve">基于 </a:t>
              </a:r>
              <a:r>
                <a:rPr lang="zh-CN" sz="18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1781 份问卷</a:t>
              </a:r>
              <a:r>
                <a:rPr lang="zh-CN" sz="180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的机器学习分类与因子分析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819650"/>
            <a:ext cx="11049000" cy="1104900"/>
            <a:chOff x="571500" y="4819650"/>
            <a:chExt cx="11049000" cy="1104900"/>
          </a:xfrm>
        </p:grpSpPr>
        <p:sp>
          <p:nvSpPr>
            <p:cNvPr id="14" name="Rectangle 14"/>
            <p:cNvSpPr/>
            <p:nvPr/>
          </p:nvSpPr>
          <p:spPr>
            <a:xfrm>
              <a:off x="571500" y="4819650"/>
              <a:ext cx="11049000" cy="1104900"/>
            </a:xfrm>
            <a:prstGeom prst="roundRect">
              <a:avLst>
                <a:gd name="adj" fmla="val 10345"/>
              </a:avLst>
            </a:prstGeom>
            <a:solidFill>
              <a:srgbClr val="F3F1EC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57675" y="49911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4288">
              <a:solidFill>
                <a:srgbClr val="E8E3D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43850" y="49911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4288">
              <a:solidFill>
                <a:srgbClr val="E8E3D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23925" y="5039678"/>
              <a:ext cx="1403032" cy="661034"/>
              <a:chOff x="923925" y="5039678"/>
              <a:chExt cx="1403032" cy="661034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923925" y="5122069"/>
                <a:ext cx="190500" cy="214312"/>
                <a:chOff x="923925" y="5122069"/>
                <a:chExt cx="190500" cy="214312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923925" y="5122069"/>
                  <a:ext cx="1905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71438">
                      <a:moveTo>
                        <a:pt x="0" y="35719"/>
                      </a:moveTo>
                      <a:cubicBezTo>
                        <a:pt x="0" y="55446"/>
                        <a:pt x="42645" y="71438"/>
                        <a:pt x="95250" y="71438"/>
                      </a:cubicBezTo>
                      <a:cubicBezTo>
                        <a:pt x="147855" y="71438"/>
                        <a:pt x="190500" y="55446"/>
                        <a:pt x="190500" y="35719"/>
                      </a:cubicBezTo>
                      <a:cubicBezTo>
                        <a:pt x="190500" y="15992"/>
                        <a:pt x="147855" y="0"/>
                        <a:pt x="95250" y="0"/>
                      </a:cubicBezTo>
                      <a:cubicBezTo>
                        <a:pt x="42645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23925" y="5157788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1164"/>
                        <a:pt x="42645" y="107156"/>
                        <a:pt x="95250" y="107156"/>
                      </a:cubicBezTo>
                      <a:cubicBezTo>
                        <a:pt x="147855" y="107156"/>
                        <a:pt x="190500" y="91164"/>
                        <a:pt x="190500" y="71438"/>
                      </a:cubicBez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23925" y="5229225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1164"/>
                        <a:pt x="42645" y="107156"/>
                        <a:pt x="95250" y="107156"/>
                      </a:cubicBezTo>
                      <a:cubicBezTo>
                        <a:pt x="147855" y="107156"/>
                        <a:pt x="190500" y="91164"/>
                        <a:pt x="190500" y="71438"/>
                      </a:cubicBez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301115" y="5039678"/>
                <a:ext cx="850268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1781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20165" y="54873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份有效问卷样本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610100" y="5039678"/>
              <a:ext cx="1122998" cy="661034"/>
              <a:chOff x="4610100" y="5039678"/>
              <a:chExt cx="1122998" cy="661034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4610100" y="5133975"/>
                <a:ext cx="190500" cy="190500"/>
                <a:chOff x="4610100" y="5133975"/>
                <a:chExt cx="190500" cy="1905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610100" y="5133975"/>
                  <a:ext cx="190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0">
                      <a:moveTo>
                        <a:pt x="95250" y="0"/>
                      </a:moveTo>
                      <a:lnTo>
                        <a:pt x="0" y="47625"/>
                      </a:lnTo>
                      <a:lnTo>
                        <a:pt x="95250" y="95250"/>
                      </a:lnTo>
                      <a:lnTo>
                        <a:pt x="190500" y="47625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610100" y="5229225"/>
                  <a:ext cx="190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47625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610100" y="5276850"/>
                  <a:ext cx="190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47625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987290" y="5039678"/>
                <a:ext cx="457519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64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006340" y="54873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个建模特征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284369" y="5039678"/>
              <a:ext cx="2157031" cy="661034"/>
              <a:chOff x="8284369" y="5039678"/>
              <a:chExt cx="2157031" cy="661034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8284369" y="5122069"/>
                <a:ext cx="214312" cy="214312"/>
                <a:chOff x="8284369" y="5122069"/>
                <a:chExt cx="214312" cy="21431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379619" y="52173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331994" y="51696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284369" y="51220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8673465" y="5039678"/>
                <a:ext cx="261145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92515" y="5487352"/>
                <a:ext cx="17488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类频率标签（低 / 中 / 高）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58165" y="6362700"/>
            <a:ext cx="11075670" cy="366712"/>
            <a:chOff x="558165" y="6362700"/>
            <a:chExt cx="11075670" cy="366712"/>
          </a:xfrm>
        </p:grpSpPr>
        <p:sp>
          <p:nvSpPr>
            <p:cNvPr id="39" name="Line 39"/>
            <p:cNvSpPr/>
            <p:nvPr/>
          </p:nvSpPr>
          <p:spPr>
            <a:xfrm>
              <a:off x="571500" y="6362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8165" y="65160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模式识别课程大作业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16066" y="651605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6940760" cy="457200"/>
            <a:chOff x="542925" y="461962"/>
            <a:chExt cx="6940760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6940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生成式AI正深度渗透校园，使用频率出现明显分化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7685" y="1685449"/>
            <a:ext cx="3239024" cy="3862863"/>
            <a:chOff x="527685" y="1685449"/>
            <a:chExt cx="3239024" cy="3862863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685449"/>
              <a:ext cx="26322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CORE RESEARCH QUESTION · 核心研究问题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19125" y="2120900"/>
              <a:ext cx="269875" cy="254000"/>
            </a:xfrm>
            <a:custGeom>
              <a:avLst/>
              <a:gdLst/>
              <a:ahLst/>
              <a:cxnLst/>
              <a:rect l="l" t="t" r="r" b="b"/>
              <a:pathLst>
                <a:path w="269875" h="254000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0"/>
                  </a:cubicBezTo>
                  <a:cubicBezTo>
                    <a:pt x="238125" y="236465"/>
                    <a:pt x="252340" y="222250"/>
                    <a:pt x="269875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5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19050">
              <a:solidFill>
                <a:srgbClr val="B1122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7685" y="3018472"/>
              <a:ext cx="3239024" cy="2529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4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哪些因素，</a:t>
              </a:r>
              <a:r>
                <a:rPr lang="zh-CN" sz="34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决定了大学生</a:t>
              </a:r>
              <a:r>
                <a:rPr lang="zh-CN" sz="34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使用生成式AI的</a:t>
              </a:r>
              <a:r>
                <a:rPr lang="zh-CN" sz="345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频率高低</a:t>
              </a:r>
              <a:r>
                <a:rPr lang="zh-CN" sz="34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？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6477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14288">
            <a:solidFill>
              <a:srgbClr val="E8E3D6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839902" y="1717675"/>
            <a:ext cx="3474720" cy="1275556"/>
            <a:chOff x="6839902" y="1717675"/>
            <a:chExt cx="3474720" cy="1275556"/>
          </a:xfrm>
        </p:grpSpPr>
        <p:grpSp>
          <p:nvGrpSpPr>
            <p:cNvPr id="20" name="Group 20"/>
            <p:cNvGrpSpPr/>
            <p:nvPr/>
          </p:nvGrpSpPr>
          <p:grpSpPr>
            <a:xfrm>
              <a:off x="6913562" y="1717675"/>
              <a:ext cx="155576" cy="211137"/>
              <a:chOff x="6913562" y="1717675"/>
              <a:chExt cx="155576" cy="2111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24675" y="173990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991350" y="17176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58012" y="18288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024688" y="18288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913562" y="18510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024688" y="18510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958012" y="189547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969125" y="178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013575" y="178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223760" y="1775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39902" y="2132171"/>
              <a:ext cx="3474720" cy="861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生成式人工智能（AIGC）正在快速渗透</a:t>
              </a: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大学生的学习和生活，使用频率因人而异，</a:t>
              </a: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出现明显的群体分化。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6858000" y="33147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8E3D6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6839902" y="3576638"/>
            <a:ext cx="3112770" cy="1264443"/>
            <a:chOff x="6839902" y="3576638"/>
            <a:chExt cx="3112770" cy="1264443"/>
          </a:xfrm>
        </p:grpSpPr>
        <p:grpSp>
          <p:nvGrpSpPr>
            <p:cNvPr id="28" name="Group 28"/>
            <p:cNvGrpSpPr/>
            <p:nvPr/>
          </p:nvGrpSpPr>
          <p:grpSpPr>
            <a:xfrm>
              <a:off x="6902450" y="3576638"/>
              <a:ext cx="177800" cy="200024"/>
              <a:chOff x="6902450" y="3576638"/>
              <a:chExt cx="177800" cy="20002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02450" y="357663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02450" y="360997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02450" y="367665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223760" y="36233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数据基础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9902" y="3980021"/>
              <a:ext cx="3112770" cy="861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基于 </a:t>
              </a:r>
              <a:r>
                <a:rPr lang="zh-CN" sz="14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1781 份</a:t>
              </a: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大学生生成式AI使用情况</a:t>
              </a: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问卷，覆盖人口统计、功能偏好、四大</a:t>
              </a: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场景量表等多元维度。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6858000" y="52006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8E3D6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6839902" y="5462588"/>
            <a:ext cx="2750820" cy="978693"/>
            <a:chOff x="6839902" y="5462588"/>
            <a:chExt cx="2750820" cy="978693"/>
          </a:xfrm>
        </p:grpSpPr>
        <p:grpSp>
          <p:nvGrpSpPr>
            <p:cNvPr id="36" name="Group 36"/>
            <p:cNvGrpSpPr/>
            <p:nvPr/>
          </p:nvGrpSpPr>
          <p:grpSpPr>
            <a:xfrm>
              <a:off x="6923588" y="5462588"/>
              <a:ext cx="135524" cy="200025"/>
              <a:chOff x="6923588" y="5462588"/>
              <a:chExt cx="135524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958012" y="546258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69125" y="5529262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923588" y="5462588"/>
                <a:ext cx="13552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5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099"/>
                      <a:pt x="3" y="193670"/>
                      <a:pt x="1095" y="195854"/>
                    </a:cubicBezTo>
                    <a:cubicBezTo>
                      <a:pt x="2187" y="198038"/>
                      <a:pt x="4242" y="199583"/>
                      <a:pt x="6643" y="200025"/>
                    </a:cubicBezTo>
                    <a:lnTo>
                      <a:pt x="128881" y="200025"/>
                    </a:lnTo>
                    <a:cubicBezTo>
                      <a:pt x="131282" y="199583"/>
                      <a:pt x="133337" y="198038"/>
                      <a:pt x="134429" y="195854"/>
                    </a:cubicBezTo>
                    <a:cubicBezTo>
                      <a:pt x="135521" y="193670"/>
                      <a:pt x="135524" y="191099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223760" y="5509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研究路径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39902" y="5865971"/>
              <a:ext cx="275082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以机器学习分类模型量化各因素的</a:t>
              </a:r>
              <a:r>
                <a:rPr lang="zh-CN" sz="14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影响力，用数据回答"为什么"。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40" name="Line 40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1022" y="6654641"/>
              <a:ext cx="29803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数据来源：大学生生成式人工智能使用情况问卷（N = 1781）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1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461962"/>
            <a:ext cx="7035272" cy="709613"/>
            <a:chOff x="542925" y="461962"/>
            <a:chExt cx="7035272" cy="70961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0352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产品广度与功能取向是强信号，SVM 达到最优分类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212" y="869156"/>
              <a:ext cx="38840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答案先行 —— 先摆出四个最关键的发现，后续逐页给出证据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90550" y="11239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504950"/>
            <a:ext cx="5334000" cy="2247900"/>
            <a:chOff x="571500" y="1504950"/>
            <a:chExt cx="5334000" cy="2247900"/>
          </a:xfrm>
        </p:grpSpPr>
        <p:sp>
          <p:nvSpPr>
            <p:cNvPr id="7" name="Rectangle 7"/>
            <p:cNvSpPr/>
            <p:nvPr/>
          </p:nvSpPr>
          <p:spPr>
            <a:xfrm>
              <a:off x="571500" y="1504950"/>
              <a:ext cx="5334000" cy="224790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0495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12019" y="1819275"/>
              <a:ext cx="214312" cy="211931"/>
              <a:chOff x="912019" y="1819275"/>
              <a:chExt cx="214312" cy="21193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71550" y="202168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19175" y="19740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59644" y="181927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59644" y="1819275"/>
                <a:ext cx="119062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54781">
                    <a:moveTo>
                      <a:pt x="119062" y="0"/>
                    </a:moveTo>
                    <a:lnTo>
                      <a:pt x="119062" y="95250"/>
                    </a:lnTo>
                    <a:cubicBezTo>
                      <a:pt x="119062" y="128128"/>
                      <a:pt x="92409" y="154781"/>
                      <a:pt x="59531" y="154781"/>
                    </a:cubicBezTo>
                    <a:cubicBezTo>
                      <a:pt x="26653" y="154781"/>
                      <a:pt x="0" y="128128"/>
                      <a:pt x="0" y="9525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2019" y="185499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8706" y="185499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59205" y="1835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最优模型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960" y="2404110"/>
              <a:ext cx="204732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0.4988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12" y="3021806"/>
              <a:ext cx="22488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Macro F1 · SVM 在 6 模型中居首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76300" y="33337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2012" y="345995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调优后 CV Macro F1 进一步提升至 </a:t>
              </a:r>
              <a:r>
                <a:rPr lang="zh-CN" sz="112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0.520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1504950"/>
            <a:ext cx="5334000" cy="2247900"/>
            <a:chOff x="6286500" y="1504950"/>
            <a:chExt cx="5334000" cy="22479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504950"/>
              <a:ext cx="5334000" cy="224790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150495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638925" y="1819275"/>
              <a:ext cx="190500" cy="190500"/>
              <a:chOff x="6638925" y="1819275"/>
              <a:chExt cx="190500" cy="190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38925" y="18192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95250" y="0"/>
                    </a:moveTo>
                    <a:lnTo>
                      <a:pt x="0" y="47625"/>
                    </a:lnTo>
                    <a:lnTo>
                      <a:pt x="95250" y="95250"/>
                    </a:lnTo>
                    <a:lnTo>
                      <a:pt x="190500" y="47625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38925" y="1914525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95250" y="47625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38925" y="1962150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95250" y="47625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974205" y="18354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最强预测因子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37960" y="2404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77012" y="3021806"/>
              <a:ext cx="28189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共识排名 · 使用产品数量 product_count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591300" y="33337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7012" y="3459956"/>
              <a:ext cx="29914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与频率相关系数 </a:t>
              </a:r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r = 0.364</a:t>
              </a:r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，三方法高度一致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3962400"/>
            <a:ext cx="5334000" cy="2247900"/>
            <a:chOff x="571500" y="3962400"/>
            <a:chExt cx="5334000" cy="2247900"/>
          </a:xfrm>
        </p:grpSpPr>
        <p:sp>
          <p:nvSpPr>
            <p:cNvPr id="34" name="Rectangle 34"/>
            <p:cNvSpPr/>
            <p:nvPr/>
          </p:nvSpPr>
          <p:spPr>
            <a:xfrm>
              <a:off x="571500" y="3962400"/>
              <a:ext cx="5334000" cy="224790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1500" y="396240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rgbClr val="5B7DB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923925" y="4264819"/>
              <a:ext cx="190500" cy="214312"/>
              <a:chOff x="923925" y="4264819"/>
              <a:chExt cx="190500" cy="21431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23925" y="42648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23925" y="430053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23925" y="437197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259205" y="42929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样本与任务规模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960" y="4861560"/>
              <a:ext cx="140044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1781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012" y="5479256"/>
              <a:ext cx="2556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份问卷 · 经特征工程得 64 个建模特征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76300" y="57912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2012" y="5917406"/>
              <a:ext cx="28189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目标为 </a:t>
              </a:r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三分类</a:t>
              </a:r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：低频 / 中频 / 高频使用者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962400"/>
            <a:ext cx="5334000" cy="2247900"/>
            <a:chOff x="6286500" y="3962400"/>
            <a:chExt cx="5334000" cy="2247900"/>
          </a:xfrm>
        </p:grpSpPr>
        <p:sp>
          <p:nvSpPr>
            <p:cNvPr id="46" name="Rectangle 46"/>
            <p:cNvSpPr/>
            <p:nvPr/>
          </p:nvSpPr>
          <p:spPr>
            <a:xfrm>
              <a:off x="6286500" y="3962400"/>
              <a:ext cx="5334000" cy="224790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86500" y="396240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rgbClr val="C7770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614099" y="4260863"/>
              <a:ext cx="240143" cy="206314"/>
              <a:chOff x="6614099" y="4260863"/>
              <a:chExt cx="240143" cy="206314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734175" y="43362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14099" y="42608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34175" y="4419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974205" y="4292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主要局限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37960" y="4861560"/>
              <a:ext cx="151805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C77700"/>
                  </a:solidFill>
                  <a:latin typeface="Arial"/>
                  <a:ea typeface="Microsoft YaHei"/>
                  <a:cs typeface="Arial"/>
                </a:rPr>
                <a:t>8.1%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77012" y="5479256"/>
              <a:ext cx="2001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低频组占比 · 样本极度不平衡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591300" y="57912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7012" y="5917406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样本量不足拖累整体分类难度，是核心瓶颈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58" name="Line 58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1022" y="6654641"/>
              <a:ext cx="3673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汇总：模型对比 · 超参调优 · 因子分析（RF / Permutation / SHAP 共识）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45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586591" cy="457200"/>
            <a:chOff x="542925" y="461962"/>
            <a:chExt cx="7586591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5865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1781 份问卷、64 个特征，目标是严重不平衡的三分类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59118" y="1323499"/>
            <a:ext cx="3947350" cy="4629626"/>
            <a:chOff x="559118" y="1323499"/>
            <a:chExt cx="3947350" cy="4629626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323499"/>
              <a:ext cx="1765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目标变量分布 · Q9 使用频率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71500" y="2571750"/>
              <a:ext cx="3934968" cy="3381375"/>
              <a:chOff x="571500" y="2571750"/>
              <a:chExt cx="3934968" cy="3381375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1452364" y="2571750"/>
                <a:ext cx="2814546" cy="2646462"/>
                <a:chOff x="1452364" y="2571750"/>
                <a:chExt cx="2814546" cy="2646462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2857500" y="2571750"/>
                  <a:ext cx="602933" cy="57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933" h="572738">
                      <a:moveTo>
                        <a:pt x="0" y="0"/>
                      </a:moveTo>
                      <a:cubicBezTo>
                        <a:pt x="211055" y="23"/>
                        <a:pt x="418601" y="53991"/>
                        <a:pt x="602933" y="156782"/>
                      </a:cubicBezTo>
                      <a:lnTo>
                        <a:pt x="370999" y="572738"/>
                      </a:lnTo>
                      <a:cubicBezTo>
                        <a:pt x="257575" y="509486"/>
                        <a:pt x="129868" y="476273"/>
                        <a:pt x="0" y="476250"/>
                      </a:cubicBezTo>
                      <a:close/>
                    </a:path>
                  </a:pathLst>
                </a:custGeom>
                <a:solidFill>
                  <a:srgbClr val="B11226"/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452364" y="2728532"/>
                  <a:ext cx="2814546" cy="2489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4546" h="2489680">
                      <a:moveTo>
                        <a:pt x="2008069" y="0"/>
                      </a:moveTo>
                      <a:cubicBezTo>
                        <a:pt x="2595139" y="326730"/>
                        <a:pt x="2814546" y="1062016"/>
                        <a:pt x="2502521" y="1657033"/>
                      </a:cubicBezTo>
                      <a:cubicBezTo>
                        <a:pt x="2190497" y="2252050"/>
                        <a:pt x="1460897" y="2489680"/>
                        <a:pt x="858302" y="2192554"/>
                      </a:cubicBezTo>
                      <a:cubicBezTo>
                        <a:pt x="255707" y="1895428"/>
                        <a:pt x="0" y="1171966"/>
                        <a:pt x="282043" y="562166"/>
                      </a:cubicBezTo>
                      <a:lnTo>
                        <a:pt x="714002" y="761905"/>
                      </a:lnTo>
                      <a:cubicBezTo>
                        <a:pt x="540425" y="1137168"/>
                        <a:pt x="697781" y="1582387"/>
                        <a:pt x="1068615" y="1765237"/>
                      </a:cubicBezTo>
                      <a:cubicBezTo>
                        <a:pt x="1439448" y="1948087"/>
                        <a:pt x="1888440" y="1801845"/>
                        <a:pt x="2080450" y="1435671"/>
                      </a:cubicBezTo>
                      <a:cubicBezTo>
                        <a:pt x="2272461" y="1069497"/>
                        <a:pt x="2137424" y="617009"/>
                        <a:pt x="1776135" y="415957"/>
                      </a:cubicBezTo>
                      <a:close/>
                    </a:path>
                  </a:pathLst>
                </a:custGeom>
                <a:solidFill>
                  <a:srgbClr val="1A3C6E"/>
                </a:solidFill>
                <a:ln>
                  <a:noFill/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734407" y="2571750"/>
                  <a:ext cx="1123093" cy="918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093" h="918686">
                      <a:moveTo>
                        <a:pt x="0" y="718947"/>
                      </a:moveTo>
                      <a:cubicBezTo>
                        <a:pt x="202335" y="280968"/>
                        <a:pt x="640636" y="390"/>
                        <a:pt x="1123093" y="0"/>
                      </a:cubicBezTo>
                      <a:lnTo>
                        <a:pt x="1123093" y="476250"/>
                      </a:lnTo>
                      <a:cubicBezTo>
                        <a:pt x="826194" y="476491"/>
                        <a:pt x="556470" y="649158"/>
                        <a:pt x="431959" y="918686"/>
                      </a:cubicBezTo>
                      <a:close/>
                    </a:path>
                  </a:pathLst>
                </a:custGeom>
                <a:solidFill>
                  <a:srgbClr val="5B7DB1"/>
                </a:solidFill>
                <a:ln>
                  <a:noFill/>
                </a:ln>
              </p:spPr>
            </p:sp>
            <p:sp>
              <p:nvSpPr>
                <p:cNvPr id="10" name="Ellipse 10"/>
                <p:cNvSpPr/>
                <p:nvPr/>
              </p:nvSpPr>
              <p:spPr>
                <a:xfrm>
                  <a:off x="2095500" y="3048000"/>
                  <a:ext cx="1524000" cy="15240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2332334" y="3431858"/>
                  <a:ext cx="1050331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3150" b="1" dirty="0">
                      <a:solidFill>
                        <a:srgbClr val="1A3C6E"/>
                      </a:solidFill>
                      <a:latin typeface="Arial"/>
                      <a:ea typeface="Microsoft YaHei"/>
                      <a:cs typeface="Arial"/>
                    </a:rPr>
                    <a:t>1781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564130" y="3925252"/>
                  <a:ext cx="58674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8C949D"/>
                      </a:solidFill>
                      <a:latin typeface="Arial"/>
                      <a:ea typeface="Microsoft YaHei"/>
                      <a:cs typeface="Arial"/>
                    </a:rPr>
                    <a:t>总样本量</a:t>
                  </a: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571500" y="5385435"/>
                <a:ext cx="3934968" cy="567690"/>
                <a:chOff x="571500" y="5385435"/>
                <a:chExt cx="3934968" cy="567690"/>
              </a:xfrm>
            </p:grpSpPr>
            <p:sp>
              <p:nvSpPr>
                <p:cNvPr id="14" name="Rectangle 14"/>
                <p:cNvSpPr/>
                <p:nvPr/>
              </p:nvSpPr>
              <p:spPr>
                <a:xfrm>
                  <a:off x="571500" y="539115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B11226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65810" y="5385435"/>
                  <a:ext cx="1366647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23262B"/>
                      </a:solidFill>
                      <a:latin typeface="Arial"/>
                      <a:ea typeface="Microsoft YaHei"/>
                      <a:cs typeface="Arial"/>
                    </a:rPr>
                    <a:t xml:space="preserve">低频 </a:t>
                  </a:r>
                  <a:r>
                    <a:rPr lang="zh-CN" sz="1200" b="1" dirty="0">
                      <a:solidFill>
                        <a:srgbClr val="B11226"/>
                      </a:solidFill>
                      <a:latin typeface="Arial"/>
                      <a:ea typeface="Microsoft YaHei"/>
                      <a:cs typeface="Arial"/>
                    </a:rPr>
                    <a:t>8.1%</a:t>
                  </a:r>
                  <a:r>
                    <a:rPr lang="zh-CN" sz="1200" dirty="0">
                      <a:solidFill>
                        <a:srgbClr val="23262B"/>
                      </a:solidFill>
                      <a:latin typeface="Arial"/>
                      <a:ea typeface="Microsoft YaHei"/>
                      <a:cs typeface="Arial"/>
                    </a:rPr>
                    <a:t>（145）</a:t>
                  </a:r>
                </a:p>
              </p:txBody>
            </p:sp>
            <p:sp>
              <p:nvSpPr>
                <p:cNvPr id="16" name="Rectangle 16"/>
                <p:cNvSpPr/>
                <p:nvPr/>
              </p:nvSpPr>
              <p:spPr>
                <a:xfrm>
                  <a:off x="571500" y="57150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1A3C6E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65810" y="5709285"/>
                  <a:ext cx="1542669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23262B"/>
                      </a:solidFill>
                      <a:latin typeface="Arial"/>
                      <a:ea typeface="Microsoft YaHei"/>
                      <a:cs typeface="Arial"/>
                    </a:rPr>
                    <a:t xml:space="preserve">中频 </a:t>
                  </a:r>
                  <a:r>
                    <a:rPr lang="zh-CN" sz="1200" b="1" dirty="0">
                      <a:solidFill>
                        <a:srgbClr val="1A3C6E"/>
                      </a:solidFill>
                      <a:latin typeface="Arial"/>
                      <a:ea typeface="Microsoft YaHei"/>
                      <a:cs typeface="Arial"/>
                    </a:rPr>
                    <a:t>73.8%</a:t>
                  </a:r>
                  <a:r>
                    <a:rPr lang="zh-CN" sz="1200" dirty="0">
                      <a:solidFill>
                        <a:srgbClr val="23262B"/>
                      </a:solidFill>
                      <a:latin typeface="Arial"/>
                      <a:ea typeface="Microsoft YaHei"/>
                      <a:cs typeface="Arial"/>
                    </a:rPr>
                    <a:t>（1315）</a:t>
                  </a:r>
                </a:p>
              </p:txBody>
            </p:sp>
            <p:sp>
              <p:nvSpPr>
                <p:cNvPr id="18" name="Rectangle 18"/>
                <p:cNvSpPr/>
                <p:nvPr/>
              </p:nvSpPr>
              <p:spPr>
                <a:xfrm>
                  <a:off x="2857500" y="539115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5B7DB1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051810" y="5385435"/>
                  <a:ext cx="1454658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23262B"/>
                      </a:solidFill>
                      <a:latin typeface="Arial"/>
                      <a:ea typeface="Microsoft YaHei"/>
                      <a:cs typeface="Arial"/>
                    </a:rPr>
                    <a:t xml:space="preserve">高频 </a:t>
                  </a:r>
                  <a:r>
                    <a:rPr lang="zh-CN" sz="1200" b="1" dirty="0">
                      <a:solidFill>
                        <a:srgbClr val="5B7DB1"/>
                      </a:solidFill>
                      <a:latin typeface="Arial"/>
                      <a:ea typeface="Microsoft YaHei"/>
                      <a:cs typeface="Arial"/>
                    </a:rPr>
                    <a:t>18.0%</a:t>
                  </a:r>
                  <a:r>
                    <a:rPr lang="zh-CN" sz="1200" dirty="0">
                      <a:solidFill>
                        <a:srgbClr val="23262B"/>
                      </a:solidFill>
                      <a:latin typeface="Arial"/>
                      <a:ea typeface="Microsoft YaHei"/>
                      <a:cs typeface="Arial"/>
                    </a:rPr>
                    <a:t>（321）</a:t>
                  </a:r>
                </a:p>
              </p:txBody>
            </p:sp>
          </p:grpSp>
        </p:grpSp>
      </p:grpSp>
      <p:sp>
        <p:nvSpPr>
          <p:cNvPr id="23" name="Line 23"/>
          <p:cNvSpPr/>
          <p:nvPr/>
        </p:nvSpPr>
        <p:spPr>
          <a:xfrm>
            <a:off x="5410200" y="133350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14288">
            <a:solidFill>
              <a:srgbClr val="E8E3D6"/>
            </a:solidFill>
          </a:ln>
        </p:spPr>
      </p:sp>
      <p:grpSp>
        <p:nvGrpSpPr>
          <p:cNvPr id="60" name="Group 60"/>
          <p:cNvGrpSpPr/>
          <p:nvPr/>
        </p:nvGrpSpPr>
        <p:grpSpPr>
          <a:xfrm>
            <a:off x="5702618" y="1323499"/>
            <a:ext cx="5917882" cy="3693795"/>
            <a:chOff x="5702618" y="1323499"/>
            <a:chExt cx="5917882" cy="3693795"/>
          </a:xfrm>
        </p:grpSpPr>
        <p:sp>
          <p:nvSpPr>
            <p:cNvPr id="24" name="TextBox 24"/>
            <p:cNvSpPr txBox="1"/>
            <p:nvPr/>
          </p:nvSpPr>
          <p:spPr>
            <a:xfrm>
              <a:off x="5702618" y="1323499"/>
              <a:ext cx="28301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特征构成 · 原始 78 列经特征工程约 64 个特征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1619250"/>
              <a:ext cx="5905500" cy="342900"/>
            </a:xfrm>
            <a:prstGeom prst="rect">
              <a:avLst/>
            </a:prstGeom>
            <a:solidFill>
              <a:srgbClr val="F3F1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5018" y="173307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特征组（来源）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350" y="17330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数量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01733" y="17330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编码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53112" y="2088356"/>
              <a:ext cx="568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Q1 性别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62645" y="208835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84719" y="210454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原编码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867400" y="2324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53112" y="2469356"/>
              <a:ext cx="19938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Q2 学历 / Q3 专业 / Q4 年级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9327" y="24693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48202" y="2485549"/>
              <a:ext cx="551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One-Hot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867400" y="2705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53112" y="2850356"/>
              <a:ext cx="868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Q5 课程偏好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62645" y="285035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48202" y="2866549"/>
              <a:ext cx="551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One-Hot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867400" y="3086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53112" y="3231356"/>
              <a:ext cx="18363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Q6 / Q7 课堂与分数重要度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62645" y="323135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20673" y="3247549"/>
              <a:ext cx="7788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数值 0–100%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867400" y="3467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53112" y="3612356"/>
              <a:ext cx="20913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Q8 产品使用（二值列 + 数量）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19327" y="36123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05184" y="3628549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二值 + 计数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867400" y="3848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53112" y="3993356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Q10 功能使用排序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9327" y="39933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25649" y="4009549"/>
              <a:ext cx="9738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数值（NaN→14）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867400" y="4229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53112" y="437435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Q11–Q14 四大场景量表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19327" y="43743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33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24686" y="43905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Likert 1–5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867400" y="461010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14288">
              <a:solidFill>
                <a:srgbClr val="D4D0C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54065" y="47825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合计建模特征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29998" y="4758214"/>
              <a:ext cx="3805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≈ 64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12660" y="4790599"/>
              <a:ext cx="6868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9 个特征组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0" y="5219700"/>
            <a:ext cx="5905500" cy="914400"/>
            <a:chOff x="5715000" y="5219700"/>
            <a:chExt cx="5905500" cy="914400"/>
          </a:xfrm>
        </p:grpSpPr>
        <p:sp>
          <p:nvSpPr>
            <p:cNvPr id="61" name="Rectangle 61"/>
            <p:cNvSpPr/>
            <p:nvPr/>
          </p:nvSpPr>
          <p:spPr>
            <a:xfrm>
              <a:off x="5715000" y="5219700"/>
              <a:ext cx="5905500" cy="914400"/>
            </a:xfrm>
            <a:prstGeom prst="roundRect">
              <a:avLst>
                <a:gd name="adj" fmla="val 10417"/>
              </a:avLst>
            </a:prstGeom>
            <a:solidFill>
              <a:srgbClr val="F3F1EC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925259" y="5475828"/>
              <a:ext cx="208124" cy="178806"/>
              <a:chOff x="5925259" y="5475828"/>
              <a:chExt cx="208124" cy="17880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9325" y="5541169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925259" y="5475828"/>
                <a:ext cx="208124" cy="178806"/>
              </a:xfrm>
              <a:custGeom>
                <a:avLst/>
                <a:gdLst/>
                <a:ahLst/>
                <a:cxnLst/>
                <a:rect l="l" t="t" r="r" b="b"/>
                <a:pathLst>
                  <a:path w="208124" h="178806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7"/>
                      <a:pt x="0" y="162739"/>
                      <a:pt x="3474" y="168835"/>
                    </a:cubicBezTo>
                    <a:cubicBezTo>
                      <a:pt x="6948" y="174931"/>
                      <a:pt x="13395" y="178727"/>
                      <a:pt x="20412" y="178806"/>
                    </a:cubicBezTo>
                    <a:lnTo>
                      <a:pt x="187720" y="178806"/>
                    </a:lnTo>
                    <a:cubicBezTo>
                      <a:pt x="194733" y="178725"/>
                      <a:pt x="201177" y="174931"/>
                      <a:pt x="204650" y="168838"/>
                    </a:cubicBezTo>
                    <a:cubicBezTo>
                      <a:pt x="208124" y="162744"/>
                      <a:pt x="208105" y="155266"/>
                      <a:pt x="204601" y="149191"/>
                    </a:cubicBezTo>
                    <a:lnTo>
                      <a:pt x="120958" y="9516"/>
                    </a:lnTo>
                    <a:cubicBezTo>
                      <a:pt x="117378" y="3609"/>
                      <a:pt x="110973" y="0"/>
                      <a:pt x="104066" y="0"/>
                    </a:cubicBezTo>
                    <a:cubicBezTo>
                      <a:pt x="97159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29325" y="561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233160" y="550926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样本量充足，但类别极度偏斜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35065" y="5792152"/>
              <a:ext cx="4199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中频类占比近七成四，低频类仅 8.1%——这是后续建模难度的根源。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69" name="Line 69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1022" y="6654641"/>
              <a:ext cx="32443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数据来源：问卷数据 数据.xlsx（1781 份），特征工程后纳入建模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60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224296" cy="457200"/>
            <a:chOff x="542925" y="461962"/>
            <a:chExt cx="7224296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2242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Q9 频率重编码为三分类，并剔除 6 类泄漏与噪声列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59118" y="1285399"/>
            <a:ext cx="5346382" cy="3546157"/>
            <a:chOff x="559118" y="1285399"/>
            <a:chExt cx="5346382" cy="3546157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285399"/>
              <a:ext cx="1587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① 标签构造 · Q9 → 三分类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62100"/>
              <a:ext cx="5334000" cy="381000"/>
            </a:xfrm>
            <a:prstGeom prst="rect">
              <a:avLst/>
            </a:prstGeom>
            <a:solidFill>
              <a:srgbClr val="F3F1E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0568" y="1694974"/>
              <a:ext cx="1000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原始编码 · 含义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96232" y="1694974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重编码分组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9431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6760" y="20993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编码 1 · 从未使用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363152"/>
              <a:ext cx="9367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145 人 · 8.1%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2114550"/>
              <a:ext cx="1314450" cy="381000"/>
            </a:xfrm>
            <a:prstGeom prst="roundRect">
              <a:avLst>
                <a:gd name="adj" fmla="val 50000"/>
              </a:avLst>
            </a:prstGeom>
            <a:solidFill>
              <a:srgbClr val="FBE9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39260" y="22245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低频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76225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6760" y="2918460"/>
              <a:ext cx="1752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编码 2 · 一周 1～10 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3182302"/>
              <a:ext cx="10908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1315 人 · 73.8%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76750" y="2933700"/>
              <a:ext cx="1314450" cy="381000"/>
            </a:xfrm>
            <a:prstGeom prst="roundRect">
              <a:avLst>
                <a:gd name="adj" fmla="val 50000"/>
              </a:avLst>
            </a:prstGeom>
            <a:solidFill>
              <a:srgbClr val="E7EDF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39260" y="30437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中频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35814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5B7DB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3737610"/>
              <a:ext cx="2088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编码 3～6 · 一周 11 次以上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4001452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321 人 · 18.0%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76750" y="3752850"/>
              <a:ext cx="1314450" cy="381000"/>
            </a:xfrm>
            <a:prstGeom prst="roundRect">
              <a:avLst>
                <a:gd name="adj" fmla="val 50000"/>
              </a:avLst>
            </a:prstGeom>
            <a:solidFill>
              <a:srgbClr val="EAF1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39260" y="38628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5B7DB1"/>
                  </a:solidFill>
                  <a:latin typeface="Arial"/>
                  <a:ea typeface="Microsoft YaHei"/>
                  <a:cs typeface="Arial"/>
                </a:rPr>
                <a:t>高频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02456" y="4595812"/>
              <a:ext cx="190628" cy="146908"/>
              <a:chOff x="602456" y="4595812"/>
              <a:chExt cx="190628" cy="14690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02456" y="4595812"/>
                <a:ext cx="146908" cy="146908"/>
              </a:xfrm>
              <a:custGeom>
                <a:avLst/>
                <a:gdLst/>
                <a:ahLst/>
                <a:cxnLst/>
                <a:rect l="l" t="t" r="r" b="b"/>
                <a:pathLst>
                  <a:path w="146908" h="146908">
                    <a:moveTo>
                      <a:pt x="0" y="20638"/>
                    </a:moveTo>
                    <a:lnTo>
                      <a:pt x="0" y="63687"/>
                    </a:lnTo>
                    <a:cubicBezTo>
                      <a:pt x="1" y="69160"/>
                      <a:pt x="2176" y="74409"/>
                      <a:pt x="6047" y="78278"/>
                    </a:cubicBezTo>
                    <a:lnTo>
                      <a:pt x="64967" y="137198"/>
                    </a:lnTo>
                    <a:cubicBezTo>
                      <a:pt x="74678" y="146908"/>
                      <a:pt x="90422" y="146908"/>
                      <a:pt x="100133" y="137198"/>
                    </a:cubicBezTo>
                    <a:lnTo>
                      <a:pt x="137198" y="100133"/>
                    </a:lnTo>
                    <a:cubicBezTo>
                      <a:pt x="146908" y="90422"/>
                      <a:pt x="146908" y="74678"/>
                      <a:pt x="137198" y="64967"/>
                    </a:cubicBezTo>
                    <a:lnTo>
                      <a:pt x="78278" y="6047"/>
                    </a:lnTo>
                    <a:cubicBezTo>
                      <a:pt x="74409" y="2176"/>
                      <a:pt x="69160" y="1"/>
                      <a:pt x="63687" y="0"/>
                    </a:cubicBezTo>
                    <a:lnTo>
                      <a:pt x="20638" y="0"/>
                    </a:ln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281" y="4595812"/>
                <a:ext cx="66803" cy="134144"/>
              </a:xfrm>
              <a:custGeom>
                <a:avLst/>
                <a:gdLst/>
                <a:ahLst/>
                <a:cxnLst/>
                <a:rect l="l" t="t" r="r" b="b"/>
                <a:pathLst>
                  <a:path w="66803" h="134144">
                    <a:moveTo>
                      <a:pt x="30956" y="134144"/>
                    </a:moveTo>
                    <a:lnTo>
                      <a:pt x="47384" y="117716"/>
                    </a:lnTo>
                    <a:cubicBezTo>
                      <a:pt x="66803" y="98294"/>
                      <a:pt x="66803" y="66806"/>
                      <a:pt x="47384" y="47384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43628" y="46370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103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00112" y="4602956"/>
              <a:ext cx="35990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相邻频率级合并，</a:t>
              </a:r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高频</a:t>
              </a:r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纳入所有"一周 11 次以上"档位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6210300" y="1390650"/>
            <a:ext cx="9525" cy="4800600"/>
          </a:xfrm>
          <a:custGeom>
            <a:avLst/>
            <a:gdLst/>
            <a:ahLst/>
            <a:cxnLst/>
            <a:rect l="l" t="t" r="r" b="b"/>
            <a:pathLst>
              <a:path w="9525" h="4800600">
                <a:moveTo>
                  <a:pt x="0" y="0"/>
                </a:moveTo>
                <a:lnTo>
                  <a:pt x="0" y="4800600"/>
                </a:lnTo>
              </a:path>
            </a:pathLst>
          </a:custGeom>
          <a:noFill/>
          <a:ln w="14288">
            <a:solidFill>
              <a:srgbClr val="E8E3D6"/>
            </a:solidFill>
          </a:ln>
        </p:spPr>
      </p:sp>
      <p:grpSp>
        <p:nvGrpSpPr>
          <p:cNvPr id="57" name="Group 57"/>
          <p:cNvGrpSpPr/>
          <p:nvPr/>
        </p:nvGrpSpPr>
        <p:grpSpPr>
          <a:xfrm>
            <a:off x="6464618" y="1285399"/>
            <a:ext cx="5155882" cy="4143851"/>
            <a:chOff x="6464618" y="1285399"/>
            <a:chExt cx="5155882" cy="4143851"/>
          </a:xfrm>
        </p:grpSpPr>
        <p:sp>
          <p:nvSpPr>
            <p:cNvPr id="32" name="TextBox 32"/>
            <p:cNvSpPr txBox="1"/>
            <p:nvPr/>
          </p:nvSpPr>
          <p:spPr>
            <a:xfrm>
              <a:off x="6464618" y="128539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② 数据清洗 · 剔除泄漏与噪声列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515100" y="1619250"/>
              <a:ext cx="152400" cy="161925"/>
            </a:xfrm>
            <a:custGeom>
              <a:avLst/>
              <a:gdLst/>
              <a:ahLst/>
              <a:cxnLst/>
              <a:rect l="l" t="t" r="r" b="b"/>
              <a:pathLst>
                <a:path w="152400" h="161925">
                  <a:moveTo>
                    <a:pt x="0" y="0"/>
                  </a:moveTo>
                  <a:lnTo>
                    <a:pt x="152400" y="0"/>
                  </a:lnTo>
                  <a:lnTo>
                    <a:pt x="152400" y="20688"/>
                  </a:lnTo>
                  <a:cubicBezTo>
                    <a:pt x="152399" y="25740"/>
                    <a:pt x="150391" y="30585"/>
                    <a:pt x="146818" y="34157"/>
                  </a:cubicBezTo>
                  <a:lnTo>
                    <a:pt x="104775" y="76200"/>
                  </a:lnTo>
                  <a:lnTo>
                    <a:pt x="104775" y="142875"/>
                  </a:lnTo>
                  <a:lnTo>
                    <a:pt x="47625" y="161925"/>
                  </a:lnTo>
                  <a:lnTo>
                    <a:pt x="47625" y="80962"/>
                  </a:lnTo>
                  <a:lnTo>
                    <a:pt x="4953" y="34023"/>
                  </a:lnTo>
                  <a:cubicBezTo>
                    <a:pt x="1766" y="30517"/>
                    <a:pt x="1" y="25950"/>
                    <a:pt x="0" y="21212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7770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68465" y="1648778"/>
              <a:ext cx="3128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共剔除 8 类列，确保标签不泄漏、消除冗余与噪声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0" y="19431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7000" y="1943100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3212" y="2069306"/>
              <a:ext cx="149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Q15 总体情况 / 总分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118" y="2295049"/>
              <a:ext cx="28526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77700"/>
                  </a:solidFill>
                  <a:latin typeface="Arial"/>
                  <a:ea typeface="Microsoft YaHei"/>
                  <a:cs typeface="Arial"/>
                </a:rPr>
                <a:t>目标泄漏：与频率 r = 0.235，量表总分高度相关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26289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7000" y="2628900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C777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3212" y="27551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Q16 该不该使用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5118" y="2980849"/>
              <a:ext cx="2280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近零方差：95.9% 选"应该"，无区分度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7000" y="33147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7000" y="3314700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5B7DB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3212" y="34409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Q14 注意力检测题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5118" y="3666649"/>
              <a:ext cx="14874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34.9% 未通过，质量筛除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77000" y="40005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7000" y="4000500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8C949D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3212" y="4126706"/>
              <a:ext cx="2462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学校 / 所用时间 / 序号 / Q17 Q18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5118" y="435244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共线、元数据、无意义、开放文本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77000" y="4781550"/>
              <a:ext cx="5143500" cy="647700"/>
            </a:xfrm>
            <a:prstGeom prst="roundRect">
              <a:avLst>
                <a:gd name="adj" fmla="val 14706"/>
              </a:avLst>
            </a:prstGeom>
            <a:solidFill>
              <a:srgbClr val="F3F1EC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96075" y="5000625"/>
              <a:ext cx="171450" cy="171450"/>
              <a:chOff x="6696075" y="5000625"/>
              <a:chExt cx="171450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96075" y="50006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53225" y="50673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7062" y="5022056"/>
              <a:ext cx="2186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清洗后进入建模：约 64 个特征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78968" y="52287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防泄漏 + 去冗余 + 质量筛除三原则并行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58" name="Line 58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1022" y="6654641"/>
              <a:ext cx="36459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说明：标签重编码与列剔除均在数据预处理阶段完成，写入可复现 Pipeline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523583" cy="457200"/>
            <a:chOff x="542925" y="461962"/>
            <a:chExt cx="7523583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523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SMOTE + 分层划分 + 5 折 CV，三大实验逐层验证结论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59118" y="1247299"/>
            <a:ext cx="11061382" cy="1686401"/>
            <a:chOff x="559118" y="1247299"/>
            <a:chExt cx="11061382" cy="16864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247299"/>
              <a:ext cx="15469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建模管线 · 防泄漏可复现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04950"/>
              <a:ext cx="11049000" cy="1428750"/>
            </a:xfrm>
            <a:prstGeom prst="roundRect">
              <a:avLst>
                <a:gd name="adj" fmla="val 6667"/>
              </a:avLst>
            </a:prstGeom>
            <a:solidFill>
              <a:srgbClr val="F3F1EC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42950" y="1695450"/>
              <a:ext cx="2457450" cy="1047750"/>
              <a:chOff x="742950" y="1695450"/>
              <a:chExt cx="2457450" cy="1047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42950" y="1695450"/>
                <a:ext cx="245745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42950" y="1695450"/>
                <a:ext cx="24574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42950" y="1905000"/>
                <a:ext cx="2457450" cy="114300"/>
              </a:xfrm>
              <a:prstGeom prst="rect">
                <a:avLst/>
              </a:prstGeom>
              <a:solidFill>
                <a:srgbClr val="1A3C6E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19956" y="1787525"/>
                <a:ext cx="130970" cy="139700"/>
                <a:chOff x="919956" y="1787525"/>
                <a:chExt cx="130970" cy="1397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919956" y="18923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3"/>
                      </a:moveTo>
                      <a:cubicBezTo>
                        <a:pt x="0" y="27107"/>
                        <a:pt x="7818" y="34925"/>
                        <a:pt x="17463" y="34925"/>
                      </a:cubicBezTo>
                      <a:cubicBezTo>
                        <a:pt x="27107" y="34925"/>
                        <a:pt x="34925" y="27107"/>
                        <a:pt x="34925" y="17463"/>
                      </a:cubicBezTo>
                      <a:cubicBezTo>
                        <a:pt x="34925" y="7818"/>
                        <a:pt x="27107" y="0"/>
                        <a:pt x="17463" y="0"/>
                      </a:cubicBezTo>
                      <a:cubicBezTo>
                        <a:pt x="7818" y="0"/>
                        <a:pt x="0" y="7818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19956" y="178752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3"/>
                      </a:moveTo>
                      <a:cubicBezTo>
                        <a:pt x="0" y="27107"/>
                        <a:pt x="7818" y="34925"/>
                        <a:pt x="17463" y="34925"/>
                      </a:cubicBezTo>
                      <a:cubicBezTo>
                        <a:pt x="27107" y="34925"/>
                        <a:pt x="34925" y="27107"/>
                        <a:pt x="34925" y="17463"/>
                      </a:cubicBezTo>
                      <a:cubicBezTo>
                        <a:pt x="34925" y="7818"/>
                        <a:pt x="27107" y="0"/>
                        <a:pt x="17463" y="0"/>
                      </a:cubicBezTo>
                      <a:cubicBezTo>
                        <a:pt x="7818" y="0"/>
                        <a:pt x="0" y="7818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007269" y="178752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3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3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7419" y="1822450"/>
                  <a:ext cx="95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9850">
                      <a:moveTo>
                        <a:pt x="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54881" y="1848644"/>
                  <a:ext cx="69850" cy="6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1119">
                      <a:moveTo>
                        <a:pt x="0" y="61119"/>
                      </a:moveTo>
                      <a:lnTo>
                        <a:pt x="52388" y="61119"/>
                      </a:lnTo>
                      <a:cubicBezTo>
                        <a:pt x="62032" y="61119"/>
                        <a:pt x="69850" y="53301"/>
                        <a:pt x="69850" y="43656"/>
                      </a:cubicBezTo>
                      <a:lnTo>
                        <a:pt x="698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98538" y="1848644"/>
                  <a:ext cx="52388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26194">
                      <a:moveTo>
                        <a:pt x="0" y="26194"/>
                      </a:moveTo>
                      <a:lnTo>
                        <a:pt x="26194" y="0"/>
                      </a:lnTo>
                      <a:lnTo>
                        <a:pt x="52388" y="26194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146810" y="1784985"/>
                <a:ext cx="11142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SMOTE 过采样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2965" y="21536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仅训练集内合成少数类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3918" y="23902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测试集保持原始分布</a:t>
                </a:r>
              </a:p>
            </p:txBody>
          </p:sp>
        </p:grpSp>
        <p:sp>
          <p:nvSpPr>
            <p:cNvPr id="22" name="Polygon 22"/>
            <p:cNvSpPr/>
            <p:nvPr/>
          </p:nvSpPr>
          <p:spPr>
            <a:xfrm>
              <a:off x="3257550" y="2162175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0" y="57150"/>
                  </a:moveTo>
                  <a:lnTo>
                    <a:pt x="114300" y="57150"/>
                  </a:lnTo>
                  <a:lnTo>
                    <a:pt x="114300" y="0"/>
                  </a:lnTo>
                  <a:lnTo>
                    <a:pt x="228600" y="95250"/>
                  </a:lnTo>
                  <a:lnTo>
                    <a:pt x="114300" y="190500"/>
                  </a:ln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8C949D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543300" y="1695450"/>
              <a:ext cx="2457450" cy="1047750"/>
              <a:chOff x="3543300" y="1695450"/>
              <a:chExt cx="2457450" cy="1047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543300" y="1695450"/>
                <a:ext cx="245745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543300" y="1695450"/>
                <a:ext cx="24574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3543300" y="1905000"/>
                <a:ext cx="2457450" cy="114300"/>
              </a:xfrm>
              <a:prstGeom prst="rect">
                <a:avLst/>
              </a:prstGeom>
              <a:solidFill>
                <a:srgbClr val="5B7DB1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3702844" y="1778794"/>
                <a:ext cx="157163" cy="157956"/>
                <a:chOff x="3702844" y="1778794"/>
                <a:chExt cx="157163" cy="157956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3737769" y="1927225"/>
                  <a:ext cx="873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9525">
                      <a:moveTo>
                        <a:pt x="0" y="0"/>
                      </a:moveTo>
                      <a:lnTo>
                        <a:pt x="87312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729038" y="1796256"/>
                  <a:ext cx="1047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9525">
                      <a:moveTo>
                        <a:pt x="0" y="8731"/>
                      </a:moveTo>
                      <a:lnTo>
                        <a:pt x="52388" y="0"/>
                      </a:lnTo>
                      <a:lnTo>
                        <a:pt x="104775" y="87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781425" y="1778794"/>
                  <a:ext cx="9525" cy="148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8431">
                      <a:moveTo>
                        <a:pt x="0" y="0"/>
                      </a:moveTo>
                      <a:lnTo>
                        <a:pt x="0" y="1484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702844" y="1804988"/>
                  <a:ext cx="52388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78581">
                      <a:moveTo>
                        <a:pt x="52388" y="52388"/>
                      </a:moveTo>
                      <a:lnTo>
                        <a:pt x="26194" y="0"/>
                      </a:lnTo>
                      <a:lnTo>
                        <a:pt x="0" y="52388"/>
                      </a:lnTo>
                      <a:cubicBezTo>
                        <a:pt x="0" y="66854"/>
                        <a:pt x="11727" y="78581"/>
                        <a:pt x="26194" y="78581"/>
                      </a:cubicBezTo>
                      <a:cubicBezTo>
                        <a:pt x="40660" y="78581"/>
                        <a:pt x="52388" y="66854"/>
                        <a:pt x="52388" y="5238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807619" y="1804988"/>
                  <a:ext cx="52388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78581">
                      <a:moveTo>
                        <a:pt x="52388" y="52388"/>
                      </a:moveTo>
                      <a:lnTo>
                        <a:pt x="26194" y="0"/>
                      </a:lnTo>
                      <a:lnTo>
                        <a:pt x="0" y="52388"/>
                      </a:lnTo>
                      <a:cubicBezTo>
                        <a:pt x="0" y="66854"/>
                        <a:pt x="11727" y="78581"/>
                        <a:pt x="26194" y="78581"/>
                      </a:cubicBezTo>
                      <a:cubicBezTo>
                        <a:pt x="40660" y="78581"/>
                        <a:pt x="52388" y="66854"/>
                        <a:pt x="52388" y="5238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3947160" y="1784985"/>
                <a:ext cx="12150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分层划分 80/20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663315" y="2153602"/>
                <a:ext cx="10838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Stratified Split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64268" y="2390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保持三类比例一致</a:t>
                </a:r>
              </a:p>
            </p:txBody>
          </p:sp>
        </p:grpSp>
        <p:sp>
          <p:nvSpPr>
            <p:cNvPr id="36" name="Polygon 36"/>
            <p:cNvSpPr/>
            <p:nvPr/>
          </p:nvSpPr>
          <p:spPr>
            <a:xfrm>
              <a:off x="6057900" y="2162175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0" y="57150"/>
                  </a:moveTo>
                  <a:lnTo>
                    <a:pt x="114300" y="57150"/>
                  </a:lnTo>
                  <a:lnTo>
                    <a:pt x="114300" y="0"/>
                  </a:lnTo>
                  <a:lnTo>
                    <a:pt x="228600" y="95250"/>
                  </a:lnTo>
                  <a:lnTo>
                    <a:pt x="114300" y="190500"/>
                  </a:ln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8C949D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343650" y="1695450"/>
              <a:ext cx="2457450" cy="1047750"/>
              <a:chOff x="6343650" y="1695450"/>
              <a:chExt cx="2457450" cy="1047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343650" y="1695450"/>
                <a:ext cx="245745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343650" y="1695450"/>
                <a:ext cx="24574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343650" y="1905000"/>
                <a:ext cx="2457450" cy="114300"/>
              </a:xfrm>
              <a:prstGeom prst="rect">
                <a:avLst/>
              </a:prstGeom>
              <a:solidFill>
                <a:srgbClr val="5B7DB1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6520656" y="1778794"/>
                <a:ext cx="122237" cy="157162"/>
                <a:chOff x="6520656" y="1778794"/>
                <a:chExt cx="122237" cy="157162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6520656" y="1796256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34925" y="0"/>
                      </a:moveTo>
                      <a:lnTo>
                        <a:pt x="17462" y="0"/>
                      </a:lnTo>
                      <a:cubicBezTo>
                        <a:pt x="7818" y="0"/>
                        <a:pt x="0" y="7818"/>
                        <a:pt x="0" y="17462"/>
                      </a:cubicBezTo>
                      <a:lnTo>
                        <a:pt x="0" y="122237"/>
                      </a:lnTo>
                      <a:cubicBezTo>
                        <a:pt x="0" y="131882"/>
                        <a:pt x="7818" y="139700"/>
                        <a:pt x="17462" y="139700"/>
                      </a:cubicBezTo>
                      <a:lnTo>
                        <a:pt x="104775" y="139700"/>
                      </a:lnTo>
                      <a:cubicBezTo>
                        <a:pt x="114419" y="139700"/>
                        <a:pt x="122237" y="131882"/>
                        <a:pt x="122237" y="122237"/>
                      </a:cubicBezTo>
                      <a:lnTo>
                        <a:pt x="122237" y="17462"/>
                      </a:lnTo>
                      <a:cubicBezTo>
                        <a:pt x="122237" y="7818"/>
                        <a:pt x="114419" y="0"/>
                        <a:pt x="104775" y="0"/>
                      </a:cubicBezTo>
                      <a:lnTo>
                        <a:pt x="87312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555581" y="1778794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34925" y="0"/>
                      </a:lnTo>
                      <a:cubicBezTo>
                        <a:pt x="44569" y="0"/>
                        <a:pt x="52388" y="7818"/>
                        <a:pt x="52388" y="17463"/>
                      </a:cubicBezTo>
                      <a:cubicBezTo>
                        <a:pt x="52388" y="27107"/>
                        <a:pt x="44569" y="34925"/>
                        <a:pt x="34925" y="34925"/>
                      </a:cubicBezTo>
                      <a:lnTo>
                        <a:pt x="17463" y="34925"/>
                      </a:lnTo>
                      <a:cubicBezTo>
                        <a:pt x="7818" y="34925"/>
                        <a:pt x="0" y="27107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555581" y="1857375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6747510" y="1784985"/>
                <a:ext cx="10134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 折交叉验证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463665" y="2153602"/>
                <a:ext cx="6497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5-Fold CV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64618" y="2390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稳健估计泛化性能</a:t>
                </a:r>
              </a:p>
            </p:txBody>
          </p:sp>
        </p:grpSp>
        <p:sp>
          <p:nvSpPr>
            <p:cNvPr id="48" name="Polygon 48"/>
            <p:cNvSpPr/>
            <p:nvPr/>
          </p:nvSpPr>
          <p:spPr>
            <a:xfrm>
              <a:off x="8858250" y="2162175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0" y="57150"/>
                  </a:moveTo>
                  <a:lnTo>
                    <a:pt x="114300" y="57150"/>
                  </a:lnTo>
                  <a:lnTo>
                    <a:pt x="114300" y="0"/>
                  </a:lnTo>
                  <a:lnTo>
                    <a:pt x="228600" y="95250"/>
                  </a:lnTo>
                  <a:lnTo>
                    <a:pt x="114300" y="190500"/>
                  </a:ln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8C949D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144000" y="1695450"/>
              <a:ext cx="2305050" cy="1047750"/>
              <a:chOff x="9144000" y="1695450"/>
              <a:chExt cx="2305050" cy="10477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9144000" y="1695450"/>
                <a:ext cx="230505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9144000" y="1695450"/>
                <a:ext cx="2305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B11226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144000" y="1905000"/>
                <a:ext cx="2305050" cy="114300"/>
              </a:xfrm>
              <a:prstGeom prst="rect">
                <a:avLst/>
              </a:prstGeom>
              <a:solidFill>
                <a:srgbClr val="B11226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9303544" y="1787525"/>
                <a:ext cx="157163" cy="149225"/>
                <a:chOff x="9303544" y="1787525"/>
                <a:chExt cx="157163" cy="149225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9303544" y="1857375"/>
                  <a:ext cx="52388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69850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61119"/>
                      </a:lnTo>
                      <a:cubicBezTo>
                        <a:pt x="52388" y="65941"/>
                        <a:pt x="48478" y="69850"/>
                        <a:pt x="43656" y="69850"/>
                      </a:cubicBezTo>
                      <a:lnTo>
                        <a:pt x="8731" y="69850"/>
                      </a:lnTo>
                      <a:cubicBezTo>
                        <a:pt x="3909" y="69850"/>
                        <a:pt x="0" y="65941"/>
                        <a:pt x="0" y="61119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9408319" y="1822450"/>
                  <a:ext cx="5238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04775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96044"/>
                      </a:lnTo>
                      <a:cubicBezTo>
                        <a:pt x="52388" y="100866"/>
                        <a:pt x="48478" y="104775"/>
                        <a:pt x="43656" y="104775"/>
                      </a:cubicBezTo>
                      <a:lnTo>
                        <a:pt x="8731" y="104775"/>
                      </a:lnTo>
                      <a:cubicBezTo>
                        <a:pt x="3909" y="104775"/>
                        <a:pt x="0" y="100866"/>
                        <a:pt x="0" y="96044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9355931" y="1787525"/>
                  <a:ext cx="52388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39700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130969"/>
                      </a:lnTo>
                      <a:cubicBezTo>
                        <a:pt x="52388" y="135791"/>
                        <a:pt x="48478" y="139700"/>
                        <a:pt x="43656" y="139700"/>
                      </a:cubicBezTo>
                      <a:lnTo>
                        <a:pt x="8731" y="139700"/>
                      </a:lnTo>
                      <a:cubicBezTo>
                        <a:pt x="3909" y="139700"/>
                        <a:pt x="0" y="135791"/>
                        <a:pt x="0" y="130969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9312275" y="192722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9547860" y="17849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指标评估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264015" y="2153602"/>
                <a:ext cx="957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11226"/>
                    </a:solidFill>
                    <a:latin typeface="Arial"/>
                    <a:ea typeface="Microsoft YaHei"/>
                    <a:cs typeface="Arial"/>
                  </a:rPr>
                  <a:t>Macro F1</a:t>
                </a:r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 xml:space="preserve"> 为主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264968" y="2390299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+ 每类 P/R + 混淆矩阵</a:t>
                </a:r>
              </a:p>
            </p:txBody>
          </p:sp>
        </p:grpSp>
      </p:grpSp>
      <p:grpSp>
        <p:nvGrpSpPr>
          <p:cNvPr id="127" name="Group 127"/>
          <p:cNvGrpSpPr/>
          <p:nvPr/>
        </p:nvGrpSpPr>
        <p:grpSpPr>
          <a:xfrm>
            <a:off x="559118" y="3190399"/>
            <a:ext cx="11061382" cy="2848451"/>
            <a:chOff x="559118" y="3190399"/>
            <a:chExt cx="11061382" cy="2848451"/>
          </a:xfrm>
        </p:grpSpPr>
        <p:sp>
          <p:nvSpPr>
            <p:cNvPr id="62" name="TextBox 62"/>
            <p:cNvSpPr txBox="1"/>
            <p:nvPr/>
          </p:nvSpPr>
          <p:spPr>
            <a:xfrm>
              <a:off x="559118" y="3190399"/>
              <a:ext cx="1273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三大实验 · 递进验证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571500" y="3467100"/>
              <a:ext cx="3562350" cy="2571750"/>
              <a:chOff x="571500" y="3467100"/>
              <a:chExt cx="3562350" cy="25717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571500" y="3467100"/>
                <a:ext cx="3562350" cy="25717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71500" y="3467100"/>
                <a:ext cx="356235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571500" y="3771900"/>
                <a:ext cx="3562350" cy="228600"/>
              </a:xfrm>
              <a:prstGeom prst="rect">
                <a:avLst/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704850" y="3562350"/>
                <a:ext cx="342900" cy="342900"/>
              </a:xfrm>
              <a:prstGeom prst="ellipse">
                <a:avLst/>
              </a:pr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8648" y="367093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125855" y="365474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多模型对比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792956" y="4232275"/>
                <a:ext cx="185738" cy="184944"/>
                <a:chOff x="792956" y="4232275"/>
                <a:chExt cx="185738" cy="184944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844550" y="4407694"/>
                  <a:ext cx="82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9525">
                      <a:moveTo>
                        <a:pt x="0" y="0"/>
                      </a:move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885825" y="4366419"/>
                  <a:ext cx="952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1275">
                      <a:moveTo>
                        <a:pt x="0" y="0"/>
                      </a:moveTo>
                      <a:lnTo>
                        <a:pt x="0" y="41275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34231" y="4232275"/>
                  <a:ext cx="1031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9525">
                      <a:moveTo>
                        <a:pt x="0" y="0"/>
                      </a:moveTo>
                      <a:lnTo>
                        <a:pt x="103187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34231" y="4232275"/>
                  <a:ext cx="103187" cy="134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134144">
                      <a:moveTo>
                        <a:pt x="103187" y="0"/>
                      </a:moveTo>
                      <a:lnTo>
                        <a:pt x="103187" y="82550"/>
                      </a:lnTo>
                      <a:cubicBezTo>
                        <a:pt x="103187" y="111044"/>
                        <a:pt x="80088" y="134144"/>
                        <a:pt x="51594" y="134144"/>
                      </a:cubicBezTo>
                      <a:cubicBezTo>
                        <a:pt x="23099" y="134144"/>
                        <a:pt x="0" y="111044"/>
                        <a:pt x="0" y="8255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92956" y="4263231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937419" y="4263231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1090612" y="4260056"/>
                <a:ext cx="12651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6 个模型同台竞技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48665" y="4592002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KNN · 决策树 · 随机森林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48665" y="4839652"/>
                <a:ext cx="1853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SVM · 朴素贝叶斯 · Logistic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762000" y="52006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8E3D6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49618" y="538114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产出：性能排名 + 混淆矩阵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48665" y="5658802"/>
                <a:ext cx="13277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→ 选出最优基线模型</a:t>
                </a: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4314825" y="3467100"/>
              <a:ext cx="3562350" cy="2571750"/>
              <a:chOff x="4314825" y="3467100"/>
              <a:chExt cx="3562350" cy="257175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4314825" y="3467100"/>
                <a:ext cx="3562350" cy="25717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4314825" y="3467100"/>
                <a:ext cx="356235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4314825" y="3771900"/>
                <a:ext cx="3562350" cy="228600"/>
              </a:xfrm>
              <a:prstGeom prst="rect">
                <a:avLst/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4448175" y="3562350"/>
                <a:ext cx="342900" cy="342900"/>
              </a:xfrm>
              <a:prstGeom prst="ellipse">
                <a:avLst/>
              </a:pr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4511973" y="367093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4869180" y="365474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超参数调优</a:t>
                </a:r>
              </a:p>
            </p:txBody>
          </p:sp>
          <p:grpSp>
            <p:nvGrpSpPr>
              <p:cNvPr id="98" name="Group 98"/>
              <p:cNvGrpSpPr/>
              <p:nvPr/>
            </p:nvGrpSpPr>
            <p:grpSpPr>
              <a:xfrm>
                <a:off x="4546600" y="4232275"/>
                <a:ext cx="165100" cy="165101"/>
                <a:chOff x="4546600" y="4232275"/>
                <a:chExt cx="165100" cy="165101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4546600" y="427355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4567238" y="4232275"/>
                  <a:ext cx="952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1275">
                      <a:moveTo>
                        <a:pt x="0" y="0"/>
                      </a:moveTo>
                      <a:lnTo>
                        <a:pt x="0" y="41275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4567238" y="4314825"/>
                  <a:ext cx="95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2550">
                      <a:moveTo>
                        <a:pt x="0" y="0"/>
                      </a:moveTo>
                      <a:lnTo>
                        <a:pt x="0" y="82550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2" name="Freeform 92"/>
                <p:cNvSpPr/>
                <p:nvPr/>
              </p:nvSpPr>
              <p:spPr>
                <a:xfrm>
                  <a:off x="4608512" y="4335462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4629150" y="4232275"/>
                  <a:ext cx="9525" cy="10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3188">
                      <a:moveTo>
                        <a:pt x="0" y="0"/>
                      </a:moveTo>
                      <a:lnTo>
                        <a:pt x="0" y="103188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4629150" y="4376738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4670425" y="4242594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4691062" y="4232275"/>
                  <a:ext cx="9525" cy="10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319">
                      <a:moveTo>
                        <a:pt x="0" y="0"/>
                      </a:move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4691062" y="4283869"/>
                  <a:ext cx="9525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3506">
                      <a:moveTo>
                        <a:pt x="0" y="0"/>
                      </a:moveTo>
                      <a:lnTo>
                        <a:pt x="0" y="113506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</p:grpSp>
          <p:sp>
            <p:nvSpPr>
              <p:cNvPr id="99" name="TextBox 99"/>
              <p:cNvSpPr txBox="1"/>
              <p:nvPr/>
            </p:nvSpPr>
            <p:spPr>
              <a:xfrm>
                <a:off x="4833938" y="4260056"/>
                <a:ext cx="17061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GridSearchCV 网格搜索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4491990" y="4592002"/>
                <a:ext cx="17558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对 SVM / RF / 决策树 / KNN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4491990" y="48396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逐模型搜索最优超参组合</a:t>
                </a:r>
              </a:p>
            </p:txBody>
          </p:sp>
          <p:sp>
            <p:nvSpPr>
              <p:cNvPr id="102" name="Line 102"/>
              <p:cNvSpPr/>
              <p:nvPr/>
            </p:nvSpPr>
            <p:spPr>
              <a:xfrm>
                <a:off x="4505325" y="52006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8E3D6"/>
                </a:solidFill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4492942" y="538114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产出：最优配置 + 调优收益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4491990" y="5658802"/>
                <a:ext cx="10337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B7DB1"/>
                    </a:solidFill>
                    <a:latin typeface="Arial"/>
                    <a:ea typeface="Microsoft YaHei"/>
                    <a:cs typeface="Arial"/>
                  </a:rPr>
                  <a:t>→ 榨干模型上限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8058150" y="3467100"/>
              <a:ext cx="3562350" cy="2571750"/>
              <a:chOff x="8058150" y="3467100"/>
              <a:chExt cx="3562350" cy="2571750"/>
            </a:xfrm>
          </p:grpSpPr>
          <p:sp>
            <p:nvSpPr>
              <p:cNvPr id="106" name="Rectangle 106"/>
              <p:cNvSpPr/>
              <p:nvPr/>
            </p:nvSpPr>
            <p:spPr>
              <a:xfrm>
                <a:off x="8058150" y="3467100"/>
                <a:ext cx="3562350" cy="25717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107" name="Rectangle 107"/>
              <p:cNvSpPr/>
              <p:nvPr/>
            </p:nvSpPr>
            <p:spPr>
              <a:xfrm>
                <a:off x="8058150" y="3467100"/>
                <a:ext cx="356235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B11226"/>
              </a:solidFill>
              <a:ln>
                <a:noFill/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058150" y="3771900"/>
                <a:ext cx="3562350" cy="228600"/>
              </a:xfrm>
              <a:prstGeom prst="rect">
                <a:avLst/>
              </a:prstGeom>
              <a:solidFill>
                <a:srgbClr val="B11226"/>
              </a:solidFill>
              <a:ln>
                <a:noFill/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8191500" y="3562350"/>
                <a:ext cx="342900" cy="342900"/>
              </a:xfrm>
              <a:prstGeom prst="ellipse">
                <a:avLst/>
              </a:pr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8255298" y="367093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8612505" y="3654742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因子重要性分析</a:t>
                </a:r>
              </a:p>
            </p:txBody>
          </p:sp>
          <p:grpSp>
            <p:nvGrpSpPr>
              <p:cNvPr id="119" name="Group 119"/>
              <p:cNvGrpSpPr/>
              <p:nvPr/>
            </p:nvGrpSpPr>
            <p:grpSpPr>
              <a:xfrm>
                <a:off x="8300244" y="4221956"/>
                <a:ext cx="154781" cy="195263"/>
                <a:chOff x="8300244" y="4221956"/>
                <a:chExt cx="154781" cy="195263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8300244" y="4407694"/>
                  <a:ext cx="144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9525">
                      <a:moveTo>
                        <a:pt x="0" y="0"/>
                      </a:moveTo>
                      <a:lnTo>
                        <a:pt x="144463" y="0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310562" y="4376738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114" name="Freeform 114"/>
                <p:cNvSpPr/>
                <p:nvPr/>
              </p:nvSpPr>
              <p:spPr>
                <a:xfrm>
                  <a:off x="8320881" y="4376738"/>
                  <a:ext cx="95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956">
                      <a:moveTo>
                        <a:pt x="0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8341519" y="4242594"/>
                  <a:ext cx="92869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92869">
                      <a:moveTo>
                        <a:pt x="0" y="61912"/>
                      </a:moveTo>
                      <a:lnTo>
                        <a:pt x="30956" y="92869"/>
                      </a:lnTo>
                      <a:lnTo>
                        <a:pt x="92869" y="30956"/>
                      </a:lnTo>
                      <a:lnTo>
                        <a:pt x="61912" y="0"/>
                      </a:lnTo>
                      <a:lnTo>
                        <a:pt x="0" y="61912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116" name="Freeform 116"/>
                <p:cNvSpPr/>
                <p:nvPr/>
              </p:nvSpPr>
              <p:spPr>
                <a:xfrm>
                  <a:off x="8341519" y="4319984"/>
                  <a:ext cx="15478" cy="15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" h="15478">
                      <a:moveTo>
                        <a:pt x="15478" y="0"/>
                      </a:moveTo>
                      <a:lnTo>
                        <a:pt x="0" y="15478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117" name="Freeform 117"/>
                <p:cNvSpPr/>
                <p:nvPr/>
              </p:nvSpPr>
              <p:spPr>
                <a:xfrm>
                  <a:off x="8424069" y="4221956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0" y="0"/>
                      </a:moveTo>
                      <a:lnTo>
                        <a:pt x="30956" y="30956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118" name="Freeform 118"/>
                <p:cNvSpPr/>
                <p:nvPr/>
              </p:nvSpPr>
              <p:spPr>
                <a:xfrm>
                  <a:off x="8372475" y="4297159"/>
                  <a:ext cx="67143" cy="110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43" h="110537">
                      <a:moveTo>
                        <a:pt x="0" y="110534"/>
                      </a:moveTo>
                      <a:cubicBezTo>
                        <a:pt x="26376" y="110537"/>
                        <a:pt x="49858" y="93828"/>
                        <a:pt x="58500" y="68908"/>
                      </a:cubicBezTo>
                      <a:cubicBezTo>
                        <a:pt x="67143" y="43988"/>
                        <a:pt x="59048" y="16329"/>
                        <a:pt x="38334" y="0"/>
                      </a:cubicBez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</p:grpSp>
          <p:sp>
            <p:nvSpPr>
              <p:cNvPr id="120" name="TextBox 120"/>
              <p:cNvSpPr txBox="1"/>
              <p:nvPr/>
            </p:nvSpPr>
            <p:spPr>
              <a:xfrm>
                <a:off x="8577262" y="42600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三方法共识排名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8235315" y="4592002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RF 重要性 + Permutation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8235315" y="48396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+ SHAP 可解释性</a:t>
                </a:r>
              </a:p>
            </p:txBody>
          </p:sp>
          <p:sp>
            <p:nvSpPr>
              <p:cNvPr id="123" name="Line 123"/>
              <p:cNvSpPr/>
              <p:nvPr/>
            </p:nvSpPr>
            <p:spPr>
              <a:xfrm>
                <a:off x="8248650" y="52006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8E3D6"/>
                </a:solidFill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8236268" y="5381149"/>
                <a:ext cx="14029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产出：Top-10 关键因子</a:t>
                </a:r>
              </a:p>
            </p:txBody>
          </p:sp>
          <p:sp>
            <p:nvSpPr>
              <p:cNvPr id="125" name="TextBox 125"/>
              <p:cNvSpPr txBox="1"/>
              <p:nvPr/>
            </p:nvSpPr>
            <p:spPr>
              <a:xfrm>
                <a:off x="8235315" y="5658802"/>
                <a:ext cx="16365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11226"/>
                    </a:solidFill>
                    <a:latin typeface="Arial"/>
                    <a:ea typeface="Microsoft YaHei"/>
                    <a:cs typeface="Arial"/>
                  </a:rPr>
                  <a:t>→ 回答"哪些因素最关键"</a:t>
                </a:r>
              </a:p>
            </p:txBody>
          </p:sp>
        </p:grpSp>
      </p:grpSp>
      <p:grpSp>
        <p:nvGrpSpPr>
          <p:cNvPr id="131" name="Group 131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128" name="Line 128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561022" y="6654641"/>
              <a:ext cx="42289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技术栈：scikit-learn · imbalanced-learn (SMOTE) · SHAP · 以 Macro F1 为主指标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8137910" cy="457200"/>
            <a:chOff x="542925" y="461962"/>
            <a:chExt cx="8137910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81379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SVM 与 Logistic 回归并列最优，整体受低频样本稀疏拖累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9118" y="1152049"/>
            <a:ext cx="5346382" cy="3210401"/>
            <a:chOff x="559118" y="1152049"/>
            <a:chExt cx="5346382" cy="32104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1505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MACRO F1 对比 · 6 模型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5334000" cy="3009900"/>
            </a:xfrm>
            <a:prstGeom prst="roundRect">
              <a:avLst>
                <a:gd name="adj" fmla="val 3165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6309" y="1390650"/>
              <a:ext cx="4944382" cy="29337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6274118" y="1152049"/>
            <a:ext cx="5346382" cy="3210401"/>
            <a:chOff x="6274118" y="1152049"/>
            <a:chExt cx="5346382" cy="3210401"/>
          </a:xfrm>
        </p:grpSpPr>
        <p:sp>
          <p:nvSpPr>
            <p:cNvPr id="10" name="TextBox 10"/>
            <p:cNvSpPr txBox="1"/>
            <p:nvPr/>
          </p:nvSpPr>
          <p:spPr>
            <a:xfrm>
              <a:off x="6274118" y="1152049"/>
              <a:ext cx="1485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5 折 CV 稳定性 · 箱线图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1352550"/>
              <a:ext cx="5334000" cy="3009900"/>
            </a:xfrm>
            <a:prstGeom prst="roundRect">
              <a:avLst>
                <a:gd name="adj" fmla="val 3165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5502" y="1390650"/>
              <a:ext cx="4915997" cy="2933700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571500" y="4533900"/>
            <a:ext cx="11049000" cy="1602581"/>
            <a:chOff x="571500" y="4533900"/>
            <a:chExt cx="11049000" cy="1602581"/>
          </a:xfrm>
        </p:grpSpPr>
        <p:sp>
          <p:nvSpPr>
            <p:cNvPr id="14" name="Rectangle 14"/>
            <p:cNvSpPr/>
            <p:nvPr/>
          </p:nvSpPr>
          <p:spPr>
            <a:xfrm>
              <a:off x="571500" y="4533900"/>
              <a:ext cx="11049000" cy="304800"/>
            </a:xfrm>
            <a:prstGeom prst="rect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0568" y="46381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排名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1618" y="46381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9693" y="4638199"/>
              <a:ext cx="618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Macro F1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72235" y="4638199"/>
              <a:ext cx="5435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CV Mean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44583" y="46381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点评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838700"/>
              <a:ext cx="11049000" cy="323850"/>
            </a:xfrm>
            <a:prstGeom prst="rect">
              <a:avLst/>
            </a:prstGeom>
            <a:solidFill>
              <a:srgbClr val="FBE9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8662" y="4936331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09712" y="4936331"/>
              <a:ext cx="319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SVM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46525" y="4928235"/>
              <a:ext cx="5849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0.4988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82182" y="4936331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0.4860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22628" y="49444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最优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1500" y="516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8662" y="5260181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09712" y="5260181"/>
              <a:ext cx="958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Logistic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77182" y="5260181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0.4951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69805" y="5260181"/>
              <a:ext cx="5483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0.5134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60570" y="5268278"/>
              <a:ext cx="782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CV 均值反超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71500" y="5486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8662" y="5584031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09712" y="558403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随机森林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77182" y="5584031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0.4761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82182" y="5584031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0.4898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16578" y="55921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树模型第三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81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8662" y="5907881"/>
              <a:ext cx="276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4–6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09712" y="5907881"/>
              <a:ext cx="18212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朴素贝叶斯 / 决策树 / KNN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57129" y="5907881"/>
              <a:ext cx="1363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0.41 / 0.39 / 0.36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129" y="5907881"/>
              <a:ext cx="1363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0.40 / 0.44 / 0.38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36630" y="5915978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偏弱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6210300"/>
            <a:ext cx="11049000" cy="304800"/>
            <a:chOff x="571500" y="6210300"/>
            <a:chExt cx="11049000" cy="304800"/>
          </a:xfrm>
        </p:grpSpPr>
        <p:sp>
          <p:nvSpPr>
            <p:cNvPr id="45" name="Rectangle 45"/>
            <p:cNvSpPr/>
            <p:nvPr/>
          </p:nvSpPr>
          <p:spPr>
            <a:xfrm>
              <a:off x="571500" y="6210300"/>
              <a:ext cx="11049000" cy="304800"/>
            </a:xfrm>
            <a:prstGeom prst="roundRect">
              <a:avLst>
                <a:gd name="adj" fmla="val 18750"/>
              </a:avLst>
            </a:prstGeom>
            <a:solidFill>
              <a:srgbClr val="F3F1EC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8662" y="6310312"/>
              <a:ext cx="142875" cy="142875"/>
              <a:chOff x="728662" y="6310312"/>
              <a:chExt cx="142875" cy="14287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28662" y="631031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7047" y="634206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81844" y="642143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77265" y="6296978"/>
              <a:ext cx="5641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线性模型最稳</a:t>
              </a:r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：SVM / LR 在此数据上领先；整体 F1 偏低，主因低频组仅 </a:t>
              </a:r>
              <a:r>
                <a:rPr lang="zh-CN" sz="105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8.1%</a:t>
              </a:r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 样本不足。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1022" y="6610350"/>
            <a:ext cx="11069955" cy="250031"/>
            <a:chOff x="561022" y="6610350"/>
            <a:chExt cx="11069955" cy="250031"/>
          </a:xfrm>
        </p:grpSpPr>
        <p:sp>
          <p:nvSpPr>
            <p:cNvPr id="52" name="Line 52"/>
            <p:cNvSpPr/>
            <p:nvPr/>
          </p:nvSpPr>
          <p:spPr>
            <a:xfrm>
              <a:off x="571500" y="6610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1022" y="6692741"/>
              <a:ext cx="32333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数据来源：results/model_comparison/metrics_summary.csv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41476" y="6692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4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6988016" cy="457200"/>
            <a:chOff x="542925" y="461962"/>
            <a:chExt cx="6988016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698801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模型在中频类上稳健，低频与高频的边界识别困难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9118" y="1152049"/>
            <a:ext cx="6679882" cy="3743801"/>
            <a:chOff x="559118" y="1152049"/>
            <a:chExt cx="6679882" cy="37438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1792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各类别 P / R / F1 · 分组柱状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6667500" cy="3543300"/>
            </a:xfrm>
            <a:prstGeom prst="roundRect">
              <a:avLst>
                <a:gd name="adj" fmla="val 2688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154195"/>
              <a:ext cx="6591300" cy="1940009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417118" y="1152049"/>
            <a:ext cx="4203382" cy="3743801"/>
            <a:chOff x="7417118" y="1152049"/>
            <a:chExt cx="4203382" cy="3743801"/>
          </a:xfrm>
        </p:grpSpPr>
        <p:sp>
          <p:nvSpPr>
            <p:cNvPr id="10" name="TextBox 10"/>
            <p:cNvSpPr txBox="1"/>
            <p:nvPr/>
          </p:nvSpPr>
          <p:spPr>
            <a:xfrm>
              <a:off x="7417118" y="1152049"/>
              <a:ext cx="1567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最优模型 SVM · 混淆矩阵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429500" y="1352550"/>
              <a:ext cx="4191000" cy="3543300"/>
            </a:xfrm>
            <a:prstGeom prst="roundRect">
              <a:avLst>
                <a:gd name="adj" fmla="val 2688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97033" y="1390650"/>
              <a:ext cx="3855934" cy="3467100"/>
            </a:xfrm>
            <a:prstGeom prst="rect">
              <a:avLst/>
            </a:prstGeom>
          </p:spPr>
        </p:pic>
      </p:grpSp>
      <p:grpSp>
        <p:nvGrpSpPr>
          <p:cNvPr id="39" name="Group 39"/>
          <p:cNvGrpSpPr/>
          <p:nvPr/>
        </p:nvGrpSpPr>
        <p:grpSpPr>
          <a:xfrm>
            <a:off x="571500" y="5048250"/>
            <a:ext cx="11049000" cy="1143000"/>
            <a:chOff x="571500" y="5048250"/>
            <a:chExt cx="110490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571500" y="5048250"/>
              <a:ext cx="3552825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504825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09625" y="5248275"/>
              <a:ext cx="171450" cy="171450"/>
              <a:chOff x="809625" y="5248275"/>
              <a:chExt cx="171450" cy="1714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625" y="52482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6775" y="53149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70610" y="52616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中频类识别稳健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7715" y="55826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中频类样本充足（73.8%），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7715" y="5811202"/>
              <a:ext cx="1804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precision / recall 均最高。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14825" y="5048250"/>
              <a:ext cx="3552825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14825" y="504825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C7770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542614" y="5245111"/>
              <a:ext cx="192114" cy="165051"/>
              <a:chOff x="4542614" y="5245111"/>
              <a:chExt cx="192114" cy="16505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38675" y="53054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42614" y="52451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38675" y="5372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813935" y="52616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两端类别难分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1040" y="55826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低频与高频类样本稀少，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1040" y="58112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指标明显低于中频。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58150" y="5048250"/>
              <a:ext cx="35623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58150" y="504825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5B7DB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296275" y="5248275"/>
              <a:ext cx="171450" cy="171450"/>
              <a:chOff x="8296275" y="5248275"/>
              <a:chExt cx="171450" cy="1714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296275" y="5248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10575" y="53625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557260" y="52616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误判集中在相邻级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54365" y="5582602"/>
              <a:ext cx="18608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错误多在低↔中、中↔高之间，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54365" y="5811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罕有跨级混淆。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40" name="Line 40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1022" y="6654641"/>
              <a:ext cx="5263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数据来源：results/model_comparison/{per_class_metrics.png, confusion_matrices/cm_svm.png}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9114532" cy="457200"/>
            <a:chOff x="542925" y="461962"/>
            <a:chExt cx="9114532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9114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GridSearch 调优后 SVM 的 CV Macro F1 由 0.486 提升至 0.520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9118" y="1152049"/>
            <a:ext cx="3822382" cy="3743801"/>
            <a:chOff x="559118" y="1152049"/>
            <a:chExt cx="3822382" cy="37438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1328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SVM · C × γ 网格热力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3810000" cy="3543300"/>
            </a:xfrm>
            <a:prstGeom prst="roundRect">
              <a:avLst>
                <a:gd name="adj" fmla="val 2688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42733"/>
              <a:ext cx="3733800" cy="2962935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4559618" y="1152049"/>
            <a:ext cx="3060382" cy="3743801"/>
            <a:chOff x="4559618" y="1152049"/>
            <a:chExt cx="3060382" cy="3743801"/>
          </a:xfrm>
        </p:grpSpPr>
        <p:sp>
          <p:nvSpPr>
            <p:cNvPr id="10" name="TextBox 10"/>
            <p:cNvSpPr txBox="1"/>
            <p:nvPr/>
          </p:nvSpPr>
          <p:spPr>
            <a:xfrm>
              <a:off x="4559618" y="1152049"/>
              <a:ext cx="1096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SVM · C 参数折线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572000" y="1352550"/>
              <a:ext cx="3048000" cy="3543300"/>
            </a:xfrm>
            <a:prstGeom prst="roundRect">
              <a:avLst>
                <a:gd name="adj" fmla="val 3125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0100" y="2202923"/>
              <a:ext cx="2971800" cy="1842554"/>
            </a:xfrm>
            <a:prstGeom prst="rect">
              <a:avLst/>
            </a:prstGeom>
          </p:spPr>
        </p:pic>
      </p:grpSp>
      <p:grpSp>
        <p:nvGrpSpPr>
          <p:cNvPr id="42" name="Group 42"/>
          <p:cNvGrpSpPr/>
          <p:nvPr/>
        </p:nvGrpSpPr>
        <p:grpSpPr>
          <a:xfrm>
            <a:off x="7798118" y="1152049"/>
            <a:ext cx="3822382" cy="3743801"/>
            <a:chOff x="7798118" y="1152049"/>
            <a:chExt cx="3822382" cy="3743801"/>
          </a:xfrm>
        </p:grpSpPr>
        <p:sp>
          <p:nvSpPr>
            <p:cNvPr id="14" name="TextBox 14"/>
            <p:cNvSpPr txBox="1"/>
            <p:nvPr/>
          </p:nvSpPr>
          <p:spPr>
            <a:xfrm>
              <a:off x="7798118" y="1152049"/>
              <a:ext cx="1594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最优超参 · GridSearchCV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0" y="1352550"/>
              <a:ext cx="3810000" cy="3543300"/>
            </a:xfrm>
            <a:prstGeom prst="roundRect">
              <a:avLst>
                <a:gd name="adj" fmla="val 2688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0" y="1352550"/>
              <a:ext cx="3810000" cy="323850"/>
            </a:xfrm>
            <a:prstGeom prst="roundRect">
              <a:avLst>
                <a:gd name="adj" fmla="val 29412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0" y="1543050"/>
              <a:ext cx="3810000" cy="133350"/>
            </a:xfrm>
            <a:prstGeom prst="rect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69568" y="14568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12568" y="145684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Best CV F1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9649" y="14568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最优超参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0" y="1695450"/>
              <a:ext cx="3810000" cy="590550"/>
            </a:xfrm>
            <a:prstGeom prst="rect">
              <a:avLst/>
            </a:prstGeom>
            <a:solidFill>
              <a:srgbClr val="FBE9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66710" y="183261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SVM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07805" y="1816418"/>
              <a:ext cx="658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0.5199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70520" y="2074545"/>
              <a:ext cx="1829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06B"/>
                  </a:solidFill>
                  <a:latin typeface="Consolas"/>
                  <a:ea typeface="Microsoft YaHei"/>
                  <a:cs typeface="Consolas"/>
                </a:rPr>
                <a:t>C=0.1 · kernel=linear · γ=scale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981950" y="23241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66710" y="2461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随机森林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09710" y="2461260"/>
              <a:ext cx="558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0.5153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70520" y="2703195"/>
              <a:ext cx="2159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06B"/>
                  </a:solidFill>
                  <a:latin typeface="Consolas"/>
                  <a:ea typeface="Microsoft YaHei"/>
                  <a:cs typeface="Consolas"/>
                </a:rPr>
                <a:t>n=200 · depth=10 · split=10 · feat=√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981950" y="29337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6710" y="30708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决策树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09710" y="3070860"/>
              <a:ext cx="558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0.4760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70520" y="3312795"/>
              <a:ext cx="1757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06B"/>
                  </a:solidFill>
                  <a:latin typeface="Consolas"/>
                  <a:ea typeface="Microsoft YaHei"/>
                  <a:cs typeface="Consolas"/>
                </a:rPr>
                <a:t>entropy · depth=10 · split=10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981950" y="35433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66710" y="368046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09710" y="3680460"/>
              <a:ext cx="558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0.4027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0520" y="3922395"/>
              <a:ext cx="1613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06B"/>
                  </a:solidFill>
                  <a:latin typeface="Consolas"/>
                  <a:ea typeface="Microsoft YaHei"/>
                  <a:cs typeface="Consolas"/>
                </a:rPr>
                <a:t>k=3 · distance · manhattan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981950" y="41529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14288">
              <a:solidFill>
                <a:srgbClr val="D4D0C4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008144" y="4366419"/>
              <a:ext cx="157163" cy="87312"/>
              <a:chOff x="8008144" y="4366419"/>
              <a:chExt cx="157163" cy="873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08144" y="4366419"/>
                <a:ext cx="15716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7312">
                    <a:moveTo>
                      <a:pt x="0" y="87312"/>
                    </a:moveTo>
                    <a:lnTo>
                      <a:pt x="52388" y="34925"/>
                    </a:lnTo>
                    <a:lnTo>
                      <a:pt x="87312" y="69850"/>
                    </a:lnTo>
                    <a:lnTo>
                      <a:pt x="15716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04188" y="4366419"/>
                <a:ext cx="61119" cy="61119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61119">
                    <a:moveTo>
                      <a:pt x="0" y="0"/>
                    </a:moveTo>
                    <a:lnTo>
                      <a:pt x="61119" y="0"/>
                    </a:lnTo>
                    <a:lnTo>
                      <a:pt x="61119" y="6111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4365" y="436340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 xml:space="preserve">SVM 调优收益 </a:t>
              </a:r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+0.034</a:t>
              </a:r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（0.486 → 0.520）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5048250"/>
            <a:ext cx="11049000" cy="1143000"/>
            <a:chOff x="571500" y="5048250"/>
            <a:chExt cx="11049000" cy="1143000"/>
          </a:xfrm>
        </p:grpSpPr>
        <p:sp>
          <p:nvSpPr>
            <p:cNvPr id="43" name="Rectangle 43"/>
            <p:cNvSpPr/>
            <p:nvPr/>
          </p:nvSpPr>
          <p:spPr>
            <a:xfrm>
              <a:off x="571500" y="5048250"/>
              <a:ext cx="11049000" cy="1143000"/>
            </a:xfrm>
            <a:prstGeom prst="roundRect">
              <a:avLst>
                <a:gd name="adj" fmla="val 8333"/>
              </a:avLst>
            </a:prstGeom>
            <a:solidFill>
              <a:srgbClr val="F3F1EC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33438" y="5310188"/>
              <a:ext cx="200025" cy="200025"/>
              <a:chOff x="833438" y="5310188"/>
              <a:chExt cx="200025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3438" y="5310188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3" y="100012"/>
                    </a:lnTo>
                    <a:moveTo>
                      <a:pt x="100012" y="0"/>
                    </a:moveTo>
                    <a:lnTo>
                      <a:pt x="100012" y="11112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2"/>
                    </a:moveTo>
                    <a:lnTo>
                      <a:pt x="36671" y="36671"/>
                    </a:lnTo>
                    <a:moveTo>
                      <a:pt x="171133" y="28892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3176" y="5354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07891" y="5465762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163955" y="5340668"/>
              <a:ext cx="47976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线性核 + 小 C 让 SVM 最稳，调优收益主要来自 SVM 自身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66812" y="5688806"/>
              <a:ext cx="5249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热力 / 折线显示 C 偏小、核为 linear 时表现最佳——反映特征关系近线性可分；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66812" y="5936456"/>
              <a:ext cx="35840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 xml:space="preserve">调优后 SVM 以 CV Macro F1 = </a:t>
              </a:r>
              <a:r>
                <a:rPr lang="zh-CN" sz="112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0.520</a:t>
              </a:r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 xml:space="preserve"> 成为全局最优。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52" name="Line 52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1022" y="6654641"/>
              <a:ext cx="35413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数据来源：results/hyperparameter_tuning/{svm/, summary.csv}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2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303056" cy="457200"/>
            <a:chOff x="542925" y="461962"/>
            <a:chExt cx="7303056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3030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产品数量、文本生成与特定产品使用是最强预测因子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9118" y="1152049"/>
            <a:ext cx="5346382" cy="3743801"/>
            <a:chOff x="559118" y="1152049"/>
            <a:chExt cx="5346382" cy="37438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31714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跨方法对比 · RF / Permutation / SHAP 三方法一致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5334000" cy="3543300"/>
            </a:xfrm>
            <a:prstGeom prst="roundRect">
              <a:avLst>
                <a:gd name="adj" fmla="val 2688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42375"/>
              <a:ext cx="5257800" cy="2963650"/>
            </a:xfrm>
            <a:prstGeom prst="rect">
              <a:avLst/>
            </a:prstGeom>
          </p:spPr>
        </p:pic>
      </p:grpSp>
      <p:grpSp>
        <p:nvGrpSpPr>
          <p:cNvPr id="49" name="Group 49"/>
          <p:cNvGrpSpPr/>
          <p:nvPr/>
        </p:nvGrpSpPr>
        <p:grpSpPr>
          <a:xfrm>
            <a:off x="6274118" y="1152049"/>
            <a:ext cx="5205412" cy="3791426"/>
            <a:chOff x="6274118" y="1152049"/>
            <a:chExt cx="5205412" cy="3791426"/>
          </a:xfrm>
        </p:grpSpPr>
        <p:sp>
          <p:nvSpPr>
            <p:cNvPr id="10" name="TextBox 10"/>
            <p:cNvSpPr txBox="1"/>
            <p:nvPr/>
          </p:nvSpPr>
          <p:spPr>
            <a:xfrm>
              <a:off x="6274118" y="1152049"/>
              <a:ext cx="20656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TOP-10 关键因子 · 共识平均排名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425565" y="1590199"/>
              <a:ext cx="5053965" cy="3353276"/>
              <a:chOff x="6425565" y="1590199"/>
              <a:chExt cx="5053965" cy="3353276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426518" y="159019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排名越靠前（值越小）越关键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382000" y="17907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8E3D6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8382000" y="179070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14288">
                <a:solidFill>
                  <a:srgbClr val="94A3B8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8382000" y="1905000"/>
                <a:ext cx="308610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B11226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425565" y="1953578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使用产品数量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363801" y="1961674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product_count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155035" y="19535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1.3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8382000" y="2209800"/>
                <a:ext cx="253365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425565" y="22583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文本生成功能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93818" y="2266474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Q10 文本生成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155035" y="2258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3.0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8382000" y="2514600"/>
                <a:ext cx="224790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25565" y="25631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文心一言使用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25359" y="25712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Q8 产品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155035" y="25631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4.0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382000" y="2819400"/>
                <a:ext cx="161925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425565" y="28679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性别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24396" y="2876074"/>
                <a:ext cx="1937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155035" y="28679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7.7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382000" y="3124200"/>
                <a:ext cx="150495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425565" y="3172778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ChatGPT 使用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25359" y="31808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Q8 产品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155035" y="31727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8.3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382000" y="3429000"/>
                <a:ext cx="137160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425565" y="3477578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年级 / 文科专业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805857" y="3485674"/>
                <a:ext cx="5123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Q4 / Q3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155035" y="34775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9.3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8382000" y="3733800"/>
                <a:ext cx="131445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425565" y="3782378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学历 / 理科专业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05857" y="3790474"/>
                <a:ext cx="5123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Q2 / Q3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115503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9.7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8382000" y="4038600"/>
                <a:ext cx="118110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5B7DB1">
                  <a:alpha val="75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425565" y="40871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调试代码功能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493818" y="4095274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Q10 调试代码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074175" y="4087178"/>
                <a:ext cx="350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10.7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70570" y="44557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平均排名（越小越靠前）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40456" y="4760595"/>
                <a:ext cx="17390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8C949D"/>
                    </a:solidFill>
                    <a:latin typeface="Arial"/>
                    <a:ea typeface="Microsoft YaHei"/>
                    <a:cs typeface="Arial"/>
                  </a:rPr>
                  <a:t>数据：consensus_ranking.csv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5048250"/>
            <a:ext cx="11049000" cy="1143000"/>
            <a:chOff x="571500" y="5048250"/>
            <a:chExt cx="11049000" cy="1143000"/>
          </a:xfrm>
        </p:grpSpPr>
        <p:sp>
          <p:nvSpPr>
            <p:cNvPr id="50" name="Rectangle 50"/>
            <p:cNvSpPr/>
            <p:nvPr/>
          </p:nvSpPr>
          <p:spPr>
            <a:xfrm>
              <a:off x="571500" y="5048250"/>
              <a:ext cx="11049000" cy="1143000"/>
            </a:xfrm>
            <a:prstGeom prst="roundRect">
              <a:avLst>
                <a:gd name="adj" fmla="val 8333"/>
              </a:avLst>
            </a:prstGeom>
            <a:solidFill>
              <a:srgbClr val="F3F1EC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55662" y="531018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7"/>
                  </a:lnTo>
                  <a:lnTo>
                    <a:pt x="155575" y="77787"/>
                  </a:lnTo>
                  <a:lnTo>
                    <a:pt x="66675" y="200025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B1122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63955" y="5340668"/>
              <a:ext cx="4230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"用得多不多"本质上是"用得广不广、用得深不深"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66812" y="5688806"/>
              <a:ext cx="7229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使用越多不同产品、越倾向文本生成与编程调试、特定产品（文心一言 / ChatGPT）使用者，使用频率越高；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66812" y="5936456"/>
              <a:ext cx="4251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性别与文理科背景亦有显著影响。三方法高度一致 → 结论稳健。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56" name="Line 56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1022" y="6654641"/>
              <a:ext cx="50485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数据来源：results/factor_analysis/{consensus_ranking.csv, cross_method_comparison.png}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9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460575" cy="457200"/>
            <a:chOff x="542925" y="461962"/>
            <a:chExt cx="7460575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4605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SHAP 确认全局结论，并揭示高低频群体的差异化驱动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59118" y="1152049"/>
            <a:ext cx="6870382" cy="5058251"/>
            <a:chOff x="559118" y="1152049"/>
            <a:chExt cx="6870382" cy="505825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240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SHAP BEESWARM · 特征影响方向与幅度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6858000" cy="4857750"/>
            </a:xfrm>
            <a:prstGeom prst="roundRect">
              <a:avLst>
                <a:gd name="adj" fmla="val 1961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775086"/>
              <a:ext cx="6781800" cy="4012678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50570" y="5998845"/>
              <a:ext cx="31792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红点 = 特征高值，蓝点 = 低值；点越偏右，越推向高频使用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0" y="1352550"/>
            <a:ext cx="4000500" cy="4857750"/>
            <a:chOff x="7620000" y="1352550"/>
            <a:chExt cx="4000500" cy="4857750"/>
          </a:xfrm>
        </p:grpSpPr>
        <p:grpSp>
          <p:nvGrpSpPr>
            <p:cNvPr id="23" name="Group 23"/>
            <p:cNvGrpSpPr/>
            <p:nvPr/>
          </p:nvGrpSpPr>
          <p:grpSpPr>
            <a:xfrm>
              <a:off x="7620000" y="1352550"/>
              <a:ext cx="4000500" cy="1524000"/>
              <a:chOff x="7620000" y="1352550"/>
              <a:chExt cx="4000500" cy="1524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0" y="1352550"/>
                <a:ext cx="4000500" cy="1524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7620000" y="1352550"/>
                <a:ext cx="47625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1A3C6E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7877175" y="1581150"/>
                <a:ext cx="171450" cy="161925"/>
                <a:chOff x="7877175" y="1581150"/>
                <a:chExt cx="171450" cy="161925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7877175" y="165735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991475" y="1619250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104775"/>
                      </a:lnTo>
                      <a:cubicBezTo>
                        <a:pt x="57150" y="110036"/>
                        <a:pt x="52886" y="114300"/>
                        <a:pt x="476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934325" y="1581150"/>
                  <a:ext cx="571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524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142875"/>
                      </a:lnTo>
                      <a:cubicBezTo>
                        <a:pt x="57150" y="148136"/>
                        <a:pt x="52886" y="152400"/>
                        <a:pt x="47625" y="152400"/>
                      </a:cubicBezTo>
                      <a:lnTo>
                        <a:pt x="9525" y="152400"/>
                      </a:lnTo>
                      <a:cubicBezTo>
                        <a:pt x="4264" y="152400"/>
                        <a:pt x="0" y="148136"/>
                        <a:pt x="0" y="1428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7886700" y="1733550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8137208" y="15768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全局方向性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835265" y="1925002"/>
                <a:ext cx="19309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11226"/>
                    </a:solidFill>
                    <a:latin typeface="Arial"/>
                    <a:ea typeface="Microsoft YaHei"/>
                    <a:cs typeface="Arial"/>
                  </a:rPr>
                  <a:t>product_count 高</a:t>
                </a:r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 xml:space="preserve"> → 正向贡献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835265" y="2172652"/>
                <a:ext cx="17488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文本生成 / 调试代码 → 正向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36218" y="2485549"/>
                <a:ext cx="16499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SHAP 给出影响方向，比单纯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36218" y="26760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排序更可解释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620000" y="3009900"/>
              <a:ext cx="4000500" cy="1524000"/>
              <a:chOff x="7620000" y="3009900"/>
              <a:chExt cx="4000500" cy="1524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0" y="3009900"/>
                <a:ext cx="4000500" cy="1524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620000" y="3009900"/>
                <a:ext cx="47625" cy="1524000"/>
              </a:xfrm>
              <a:prstGeom prst="roundRect">
                <a:avLst>
                  <a:gd name="adj" fmla="val 50000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7877175" y="3267075"/>
                <a:ext cx="171450" cy="95250"/>
                <a:chOff x="7877175" y="3267075"/>
                <a:chExt cx="171450" cy="9525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877175" y="3267075"/>
                  <a:ext cx="1714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0">
                      <a:moveTo>
                        <a:pt x="0" y="95250"/>
                      </a:moveTo>
                      <a:lnTo>
                        <a:pt x="57150" y="38100"/>
                      </a:lnTo>
                      <a:lnTo>
                        <a:pt x="95250" y="7620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981950" y="326707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0"/>
                      </a:ln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8137208" y="32342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高频群体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35265" y="3582352"/>
                <a:ext cx="17278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受产品广度 + 编程功能驱动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35265" y="383000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广用多产品、文本与代码并行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36218" y="4142899"/>
                <a:ext cx="16889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这些特征的 SHAP 值显著偏正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620000" y="4667250"/>
              <a:ext cx="4000500" cy="1543050"/>
              <a:chOff x="7620000" y="4667250"/>
              <a:chExt cx="4000500" cy="15430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0" y="4667250"/>
                <a:ext cx="4000500" cy="1543050"/>
              </a:xfrm>
              <a:prstGeom prst="roundRect">
                <a:avLst>
                  <a:gd name="adj" fmla="val 6173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7620000" y="4667250"/>
                <a:ext cx="47625" cy="1543050"/>
              </a:xfrm>
              <a:prstGeom prst="roundRect">
                <a:avLst>
                  <a:gd name="adj" fmla="val 50000"/>
                </a:avLst>
              </a:prstGeom>
              <a:solidFill>
                <a:srgbClr val="B11226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896225" y="4886325"/>
                <a:ext cx="142875" cy="180975"/>
                <a:chOff x="7896225" y="4886325"/>
                <a:chExt cx="142875" cy="18097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7896225" y="5057775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905750" y="502920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915275" y="5029200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934325" y="4905375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57150"/>
                      </a:moveTo>
                      <a:lnTo>
                        <a:pt x="28575" y="85725"/>
                      </a:lnTo>
                      <a:lnTo>
                        <a:pt x="85725" y="28575"/>
                      </a:lnTo>
                      <a:lnTo>
                        <a:pt x="57150" y="0"/>
                      </a:ln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934325" y="4976812"/>
                  <a:ext cx="14288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8" h="14288">
                      <a:moveTo>
                        <a:pt x="14288" y="0"/>
                      </a:move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010525" y="4886325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0"/>
                      </a:moveTo>
                      <a:lnTo>
                        <a:pt x="28575" y="28575"/>
                      </a:ln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962900" y="4955743"/>
                  <a:ext cx="61978" cy="102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78" h="102034">
                      <a:moveTo>
                        <a:pt x="0" y="102032"/>
                      </a:moveTo>
                      <a:cubicBezTo>
                        <a:pt x="24347" y="102034"/>
                        <a:pt x="46023" y="86611"/>
                        <a:pt x="54000" y="63608"/>
                      </a:cubicBezTo>
                      <a:cubicBezTo>
                        <a:pt x="61978" y="40605"/>
                        <a:pt x="54506" y="15073"/>
                        <a:pt x="35385" y="0"/>
                      </a:cubicBezTo>
                    </a:path>
                  </a:pathLst>
                </a:custGeom>
                <a:noFill/>
                <a:ln w="19050">
                  <a:solidFill>
                    <a:srgbClr val="B11226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137208" y="48915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低频群体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35265" y="5239702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常与产品单一、不用文本 /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35265" y="54873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代码功能相伴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836218" y="580024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同一组强因子，对高频是推力、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836218" y="59907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对低频是阻力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51" name="Line 51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1022" y="6654641"/>
              <a:ext cx="39484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数据来源：results/factor_analysis/shap_beeswarm.png（SHAP 全局解释）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618095" cy="457200"/>
            <a:chOff x="542925" y="461962"/>
            <a:chExt cx="7618095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6180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三类用户在低维空间高度重叠，频率由多因素共同塑造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59118" y="1152049"/>
            <a:ext cx="6108382" cy="5153501"/>
            <a:chOff x="559118" y="1152049"/>
            <a:chExt cx="6108382" cy="51535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34240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PCA 二维投影 · PC1 17.4% · PC2 5.8% · 合计仅 23.3%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6096000" cy="4953000"/>
            </a:xfrm>
            <a:prstGeom prst="roundRect">
              <a:avLst>
                <a:gd name="adj" fmla="val 1923"/>
              </a:avLst>
            </a:prstGeom>
            <a:solidFill>
              <a:srgbClr val="FAF8F3"/>
            </a:solidFill>
            <a:ln w="9525">
              <a:solidFill>
                <a:srgbClr val="D4D0C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5088"/>
              <a:ext cx="6019800" cy="4807923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2476500" y="3143250"/>
              <a:ext cx="2286000" cy="1524000"/>
            </a:xfrm>
            <a:prstGeom prst="roundRect">
              <a:avLst>
                <a:gd name="adj" fmla="val 5000"/>
              </a:avLst>
            </a:prstGeom>
            <a:noFill/>
            <a:ln w="28575">
              <a:solidFill>
                <a:srgbClr val="B11226"/>
              </a:solidFill>
              <a:custDash>
                <a:ds d="333333" sp="166666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61049" y="2961799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三类大面积重叠区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18020" y="1469231"/>
            <a:ext cx="4602480" cy="4910138"/>
            <a:chOff x="7018020" y="1469231"/>
            <a:chExt cx="4602480" cy="4910138"/>
          </a:xfrm>
        </p:grpSpPr>
        <p:grpSp>
          <p:nvGrpSpPr>
            <p:cNvPr id="18" name="Group 18"/>
            <p:cNvGrpSpPr/>
            <p:nvPr/>
          </p:nvGrpSpPr>
          <p:grpSpPr>
            <a:xfrm>
              <a:off x="7088981" y="1469231"/>
              <a:ext cx="242888" cy="242888"/>
              <a:chOff x="7088981" y="1469231"/>
              <a:chExt cx="242888" cy="24288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203678" y="1583928"/>
                <a:ext cx="13494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13494">
                    <a:moveTo>
                      <a:pt x="0" y="6747"/>
                    </a:moveTo>
                    <a:cubicBezTo>
                      <a:pt x="0" y="10473"/>
                      <a:pt x="3021" y="13494"/>
                      <a:pt x="6747" y="13494"/>
                    </a:cubicBezTo>
                    <a:cubicBezTo>
                      <a:pt x="10473" y="13494"/>
                      <a:pt x="13494" y="10473"/>
                      <a:pt x="13494" y="6747"/>
                    </a:cubicBezTo>
                    <a:cubicBezTo>
                      <a:pt x="13494" y="3021"/>
                      <a:pt x="10473" y="0"/>
                      <a:pt x="6747" y="0"/>
                    </a:cubicBezTo>
                    <a:cubicBezTo>
                      <a:pt x="3021" y="0"/>
                      <a:pt x="0" y="3021"/>
                      <a:pt x="0" y="6747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115969" y="1496219"/>
                <a:ext cx="188912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188912">
                    <a:moveTo>
                      <a:pt x="0" y="94456"/>
                    </a:moveTo>
                    <a:cubicBezTo>
                      <a:pt x="0" y="146623"/>
                      <a:pt x="42290" y="188912"/>
                      <a:pt x="94456" y="188912"/>
                    </a:cubicBezTo>
                    <a:cubicBezTo>
                      <a:pt x="146623" y="188912"/>
                      <a:pt x="188912" y="146623"/>
                      <a:pt x="188912" y="94456"/>
                    </a:cubicBezTo>
                    <a:cubicBezTo>
                      <a:pt x="188912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10425" y="14692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088981" y="159067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210425" y="16851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04881" y="159067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018020" y="1874520"/>
              <a:ext cx="2621280" cy="906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没有单一维度，</a:t>
              </a:r>
              <a:r>
                <a:rPr lang="zh-CN" sz="24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能线性切开三类。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67550" y="2857500"/>
              <a:ext cx="8001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48500" y="3162300"/>
              <a:ext cx="4572000" cy="914400"/>
            </a:xfrm>
            <a:prstGeom prst="roundRect">
              <a:avLst>
                <a:gd name="adj" fmla="val 10417"/>
              </a:avLst>
            </a:prstGeom>
            <a:solidFill>
              <a:srgbClr val="F3F1E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19950" y="3124200"/>
              <a:ext cx="13153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23.3%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9162" y="33266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前两主成分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9162" y="35552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仅解释的方差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45668" y="3838099"/>
              <a:ext cx="2768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PC1 17.4% · PC2 5.8% —— 二维不足以分离三类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36118" y="4314349"/>
              <a:ext cx="16834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几何证据 · 三类在中央重叠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3260" y="46139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使用频率是高维多因素现象，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3260" y="48615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需多特征联合建模，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3260" y="51092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而非单一线性判别。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48500" y="5524500"/>
              <a:ext cx="45720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rgbClr val="D4D0C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48500" y="5524500"/>
              <a:ext cx="47625" cy="781050"/>
            </a:xfrm>
            <a:prstGeom prst="roundRect">
              <a:avLst>
                <a:gd name="adj" fmla="val 50000"/>
              </a:avLst>
            </a:prstGeom>
            <a:solidFill>
              <a:srgbClr val="5B7DB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84244" y="5722144"/>
              <a:ext cx="157162" cy="157163"/>
              <a:chOff x="7284244" y="5722144"/>
              <a:chExt cx="157162" cy="15716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284244" y="5722144"/>
                <a:ext cx="157162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2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315467" y="57570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342743" y="58443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9050">
                <a:solidFill>
                  <a:srgbClr val="5B7DB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549515" y="57540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呼应分类难度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45668" y="6009799"/>
              <a:ext cx="1877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重叠既是 PCA 的局限，也解释了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45668" y="6181249"/>
              <a:ext cx="1831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为何 Macro F1 难以突破 0.5。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40" name="Line 40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1022" y="6654641"/>
              <a:ext cx="33983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数据来源：results/pca/pca_scatter.png（PCA 降至 2 维可视化）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461962"/>
            <a:ext cx="7933134" cy="457200"/>
            <a:chOff x="542925" y="461962"/>
            <a:chExt cx="793313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461962"/>
              <a:ext cx="79331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产品广度与功能取向是频率主因，样本不平衡是核心瓶颈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90550" y="857250"/>
              <a:ext cx="571500" cy="47625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559118" y="1152049"/>
            <a:ext cx="6108382" cy="5001101"/>
            <a:chOff x="559118" y="1152049"/>
            <a:chExt cx="6108382" cy="5001101"/>
          </a:xfrm>
        </p:grpSpPr>
        <p:sp>
          <p:nvSpPr>
            <p:cNvPr id="6" name="TextBox 6"/>
            <p:cNvSpPr txBox="1"/>
            <p:nvPr/>
          </p:nvSpPr>
          <p:spPr>
            <a:xfrm>
              <a:off x="559118" y="11520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四点核心结论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76300" y="1428750"/>
              <a:ext cx="9525" cy="4667250"/>
            </a:xfrm>
            <a:custGeom>
              <a:avLst/>
              <a:gdLst/>
              <a:ahLst/>
              <a:cxnLst/>
              <a:rect l="l" t="t" r="r" b="b"/>
              <a:pathLst>
                <a:path w="9525" h="4667250">
                  <a:moveTo>
                    <a:pt x="0" y="0"/>
                  </a:moveTo>
                  <a:lnTo>
                    <a:pt x="0" y="4667250"/>
                  </a:lnTo>
                </a:path>
              </a:pathLst>
            </a:custGeom>
            <a:noFill/>
            <a:ln w="28575" cap="rnd">
              <a:solidFill>
                <a:srgbClr val="1A3C6E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47700" y="1428750"/>
              <a:ext cx="6019800" cy="647700"/>
              <a:chOff x="647700" y="1428750"/>
              <a:chExt cx="6019800" cy="6477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647700" y="1524000"/>
                <a:ext cx="457200" cy="457200"/>
              </a:xfrm>
              <a:prstGeom prst="ellipse">
                <a:avLst/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75377" y="16978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333500" y="1428750"/>
                <a:ext cx="53340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333500" y="1428750"/>
                <a:ext cx="47625" cy="647700"/>
              </a:xfrm>
              <a:prstGeom prst="roundRect">
                <a:avLst>
                  <a:gd name="adj" fmla="val 50000"/>
                </a:avLst>
              </a:prstGeom>
              <a:solidFill>
                <a:srgbClr val="1A3C6E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558925" y="1616075"/>
                <a:ext cx="139700" cy="139700"/>
                <a:chOff x="1558925" y="1616075"/>
                <a:chExt cx="139700" cy="1397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558925" y="1616075"/>
                  <a:ext cx="13970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69850">
                      <a:moveTo>
                        <a:pt x="69850" y="0"/>
                      </a:moveTo>
                      <a:lnTo>
                        <a:pt x="0" y="34925"/>
                      </a:lnTo>
                      <a:lnTo>
                        <a:pt x="69850" y="69850"/>
                      </a:lnTo>
                      <a:lnTo>
                        <a:pt x="139700" y="34925"/>
                      </a:lnTo>
                      <a:lnTo>
                        <a:pt x="6985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558925" y="1685925"/>
                  <a:ext cx="139700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34925">
                      <a:moveTo>
                        <a:pt x="0" y="0"/>
                      </a:moveTo>
                      <a:lnTo>
                        <a:pt x="69850" y="34925"/>
                      </a:ln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558925" y="1720850"/>
                  <a:ext cx="139700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34925">
                      <a:moveTo>
                        <a:pt x="0" y="0"/>
                      </a:moveTo>
                      <a:lnTo>
                        <a:pt x="69850" y="34925"/>
                      </a:ln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813560" y="1623060"/>
                <a:ext cx="22147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使用产品数量是最强预测因子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15465" y="1848802"/>
                <a:ext cx="26519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 xml:space="preserve">相关系数 </a:t>
                </a:r>
                <a:r>
                  <a:rPr lang="zh-CN" sz="1050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r = 0.364</a:t>
                </a:r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，三方法共识排名第一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47700" y="2419350"/>
              <a:ext cx="6019800" cy="647700"/>
              <a:chOff x="647700" y="2419350"/>
              <a:chExt cx="6019800" cy="6477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47700" y="2514600"/>
                <a:ext cx="457200" cy="457200"/>
              </a:xfrm>
              <a:prstGeom prst="ellipse">
                <a:avLst/>
              </a:prstGeom>
              <a:solidFill>
                <a:srgbClr val="B1122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75377" y="26884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1333500" y="2419350"/>
                <a:ext cx="53340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333500" y="2419350"/>
                <a:ext cx="47625" cy="647700"/>
              </a:xfrm>
              <a:prstGeom prst="roundRect">
                <a:avLst>
                  <a:gd name="adj" fmla="val 50000"/>
                </a:avLst>
              </a:prstGeom>
              <a:solidFill>
                <a:srgbClr val="B11226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567656" y="2597944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69850" y="0"/>
                    </a:moveTo>
                    <a:lnTo>
                      <a:pt x="69850" y="61119"/>
                    </a:lnTo>
                    <a:lnTo>
                      <a:pt x="122237" y="61119"/>
                    </a:lnTo>
                    <a:lnTo>
                      <a:pt x="52388" y="157162"/>
                    </a:lnTo>
                    <a:lnTo>
                      <a:pt x="52388" y="96044"/>
                    </a:lnTo>
                    <a:lnTo>
                      <a:pt x="0" y="96044"/>
                    </a:ln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813560" y="2613660"/>
                <a:ext cx="22147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文本生成功能是关键区分因素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15465" y="2839402"/>
                <a:ext cx="27080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越倾向文本生成 / 编程调试，使用频率越高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47700" y="3409950"/>
              <a:ext cx="6019800" cy="647700"/>
              <a:chOff x="647700" y="3409950"/>
              <a:chExt cx="6019800" cy="6477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47700" y="3505200"/>
                <a:ext cx="457200" cy="457200"/>
              </a:xfrm>
              <a:prstGeom prst="ellipse">
                <a:avLst/>
              </a:prstGeom>
              <a:solidFill>
                <a:srgbClr val="5B7DB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5377" y="36790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333500" y="3409950"/>
                <a:ext cx="53340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333500" y="3409950"/>
                <a:ext cx="47625" cy="647700"/>
              </a:xfrm>
              <a:prstGeom prst="roundRect">
                <a:avLst>
                  <a:gd name="adj" fmla="val 50000"/>
                </a:avLst>
              </a:prstGeom>
              <a:solidFill>
                <a:srgbClr val="5B7DB1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550194" y="3588544"/>
                <a:ext cx="157163" cy="157163"/>
                <a:chOff x="1550194" y="3588544"/>
                <a:chExt cx="157163" cy="157163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567656" y="3588544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550194" y="3693319"/>
                  <a:ext cx="10477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52388">
                      <a:moveTo>
                        <a:pt x="0" y="52388"/>
                      </a:move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69850" y="0"/>
                      </a:lnTo>
                      <a:cubicBezTo>
                        <a:pt x="89139" y="0"/>
                        <a:pt x="104775" y="15636"/>
                        <a:pt x="104775" y="34925"/>
                      </a:cubicBezTo>
                      <a:lnTo>
                        <a:pt x="104775" y="52388"/>
                      </a:ln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663700" y="3589679"/>
                  <a:ext cx="26262" cy="67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2" h="67667">
                      <a:moveTo>
                        <a:pt x="0" y="0"/>
                      </a:moveTo>
                      <a:cubicBezTo>
                        <a:pt x="15454" y="3957"/>
                        <a:pt x="26262" y="17882"/>
                        <a:pt x="26262" y="33834"/>
                      </a:cubicBezTo>
                      <a:cubicBezTo>
                        <a:pt x="26262" y="49786"/>
                        <a:pt x="15454" y="63710"/>
                        <a:pt x="0" y="67667"/>
                      </a:cubicBez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681163" y="3694628"/>
                  <a:ext cx="26194" cy="51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51078">
                      <a:moveTo>
                        <a:pt x="26194" y="51078"/>
                      </a:moveTo>
                      <a:lnTo>
                        <a:pt x="26194" y="33615"/>
                      </a:lnTo>
                      <a:cubicBezTo>
                        <a:pt x="26103" y="17764"/>
                        <a:pt x="15348" y="3963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5B7DB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813560" y="3604260"/>
                <a:ext cx="25507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性别与学科背景对频率有显著影响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815465" y="3830002"/>
                <a:ext cx="22529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性别、文理科进入 Top-10 关键因子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47700" y="4400550"/>
              <a:ext cx="6019800" cy="647700"/>
              <a:chOff x="647700" y="4400550"/>
              <a:chExt cx="6019800" cy="6477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647700" y="4495800"/>
                <a:ext cx="457200" cy="457200"/>
              </a:xfrm>
              <a:prstGeom prst="ellipse">
                <a:avLst/>
              </a:prstGeom>
              <a:solidFill>
                <a:srgbClr val="C77700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75377" y="46696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1333500" y="4400550"/>
                <a:ext cx="53340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4D0C4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333500" y="4400550"/>
                <a:ext cx="47625" cy="647700"/>
              </a:xfrm>
              <a:prstGeom prst="roundRect">
                <a:avLst>
                  <a:gd name="adj" fmla="val 50000"/>
                </a:avLst>
              </a:prstGeom>
              <a:solidFill>
                <a:srgbClr val="C77700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1540719" y="4576243"/>
                <a:ext cx="176105" cy="151297"/>
                <a:chOff x="1540719" y="4576243"/>
                <a:chExt cx="176105" cy="151297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628775" y="4631531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C7770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540719" y="4576243"/>
                  <a:ext cx="176105" cy="151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05" h="151297">
                      <a:moveTo>
                        <a:pt x="73763" y="8061"/>
                      </a:moveTo>
                      <a:lnTo>
                        <a:pt x="2987" y="126230"/>
                      </a:lnTo>
                      <a:cubicBezTo>
                        <a:pt x="18" y="131371"/>
                        <a:pt x="0" y="137702"/>
                        <a:pt x="2939" y="142860"/>
                      </a:cubicBezTo>
                      <a:cubicBezTo>
                        <a:pt x="5879" y="148019"/>
                        <a:pt x="11335" y="151230"/>
                        <a:pt x="17271" y="151297"/>
                      </a:cubicBezTo>
                      <a:lnTo>
                        <a:pt x="158840" y="151297"/>
                      </a:lnTo>
                      <a:cubicBezTo>
                        <a:pt x="164774" y="151229"/>
                        <a:pt x="170227" y="148018"/>
                        <a:pt x="173166" y="142863"/>
                      </a:cubicBezTo>
                      <a:cubicBezTo>
                        <a:pt x="176105" y="137707"/>
                        <a:pt x="176089" y="131379"/>
                        <a:pt x="173124" y="126238"/>
                      </a:cubicBezTo>
                      <a:lnTo>
                        <a:pt x="102349" y="8052"/>
                      </a:lnTo>
                      <a:cubicBezTo>
                        <a:pt x="99320" y="3053"/>
                        <a:pt x="93900" y="0"/>
                        <a:pt x="88056" y="0"/>
                      </a:cubicBezTo>
                      <a:cubicBezTo>
                        <a:pt x="82211" y="0"/>
                        <a:pt x="76791" y="3053"/>
                        <a:pt x="73763" y="8052"/>
                      </a:cubicBezTo>
                    </a:path>
                  </a:pathLst>
                </a:custGeom>
                <a:noFill/>
                <a:ln w="19050">
                  <a:solidFill>
                    <a:srgbClr val="C7770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628775" y="4692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" y="0"/>
                      </a:lnTo>
                    </a:path>
                  </a:pathLst>
                </a:custGeom>
                <a:noFill/>
                <a:ln w="19050">
                  <a:solidFill>
                    <a:srgbClr val="C77700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1813560" y="4594860"/>
                <a:ext cx="17358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3262B"/>
                    </a:solidFill>
                    <a:latin typeface="Arial"/>
                    <a:ea typeface="Microsoft YaHei"/>
                    <a:cs typeface="Arial"/>
                  </a:rPr>
                  <a:t>SVM 最优但整体难度大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815465" y="4820602"/>
                <a:ext cx="32750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Macro F1 = 0.4988，受低频样本不足（8.1%）限制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47700" y="5505450"/>
              <a:ext cx="6019800" cy="647700"/>
              <a:chOff x="647700" y="5505450"/>
              <a:chExt cx="6019800" cy="6477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647700" y="5600700"/>
                <a:ext cx="457200" cy="457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798512" y="5730335"/>
                <a:ext cx="155575" cy="198977"/>
                <a:chOff x="798512" y="5730335"/>
                <a:chExt cx="155575" cy="198977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98512" y="5730335"/>
                  <a:ext cx="155575" cy="142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42367">
                      <a:moveTo>
                        <a:pt x="0" y="21177"/>
                      </a:moveTo>
                      <a:cubicBezTo>
                        <a:pt x="21605" y="0"/>
                        <a:pt x="56182" y="0"/>
                        <a:pt x="77788" y="21177"/>
                      </a:cubicBezTo>
                      <a:cubicBezTo>
                        <a:pt x="99393" y="42355"/>
                        <a:pt x="133970" y="42355"/>
                        <a:pt x="155575" y="21177"/>
                      </a:cubicBezTo>
                      <a:lnTo>
                        <a:pt x="155575" y="121190"/>
                      </a:lnTo>
                      <a:cubicBezTo>
                        <a:pt x="133970" y="142367"/>
                        <a:pt x="99393" y="142367"/>
                        <a:pt x="77788" y="121190"/>
                      </a:cubicBezTo>
                      <a:cubicBezTo>
                        <a:pt x="56182" y="100012"/>
                        <a:pt x="21605" y="100012"/>
                        <a:pt x="0" y="121190"/>
                      </a:cubicBezTo>
                      <a:lnTo>
                        <a:pt x="0" y="2117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98512" y="5851525"/>
                  <a:ext cx="9525" cy="77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7787">
                      <a:moveTo>
                        <a:pt x="0" y="777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4" name="Rectangle 54"/>
              <p:cNvSpPr/>
              <p:nvPr/>
            </p:nvSpPr>
            <p:spPr>
              <a:xfrm>
                <a:off x="1333500" y="5505450"/>
                <a:ext cx="53340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3F1EC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1333500" y="5505450"/>
                <a:ext cx="47625" cy="6477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508760" y="5642610"/>
                <a:ext cx="29204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C6E"/>
                    </a:solidFill>
                    <a:latin typeface="Arial"/>
                    <a:ea typeface="Microsoft YaHei"/>
                    <a:cs typeface="Arial"/>
                  </a:rPr>
                  <a:t>研究同时回答了"为什么"和"还差什么"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510665" y="5887402"/>
                <a:ext cx="24069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6606B"/>
                    </a:solidFill>
                    <a:latin typeface="Arial"/>
                    <a:ea typeface="Microsoft YaHei"/>
                    <a:cs typeface="Arial"/>
                  </a:rPr>
                  <a:t>因果归因与改进方向并存，结论可落地</a:t>
                </a:r>
              </a:p>
            </p:txBody>
          </p:sp>
        </p:grpSp>
      </p:grpSp>
      <p:sp>
        <p:nvSpPr>
          <p:cNvPr id="60" name="Line 60"/>
          <p:cNvSpPr/>
          <p:nvPr/>
        </p:nvSpPr>
        <p:spPr>
          <a:xfrm>
            <a:off x="6991350" y="1257300"/>
            <a:ext cx="9525" cy="5029200"/>
          </a:xfrm>
          <a:custGeom>
            <a:avLst/>
            <a:gdLst/>
            <a:ahLst/>
            <a:cxnLst/>
            <a:rect l="l" t="t" r="r" b="b"/>
            <a:pathLst>
              <a:path w="9525" h="5029200">
                <a:moveTo>
                  <a:pt x="0" y="0"/>
                </a:moveTo>
                <a:lnTo>
                  <a:pt x="0" y="5029200"/>
                </a:lnTo>
              </a:path>
            </a:pathLst>
          </a:custGeom>
          <a:noFill/>
          <a:ln w="14288">
            <a:solidFill>
              <a:srgbClr val="E8E3D6"/>
            </a:solidFill>
          </a:ln>
        </p:spPr>
      </p:sp>
      <p:grpSp>
        <p:nvGrpSpPr>
          <p:cNvPr id="98" name="Group 98"/>
          <p:cNvGrpSpPr/>
          <p:nvPr/>
        </p:nvGrpSpPr>
        <p:grpSpPr>
          <a:xfrm>
            <a:off x="7245668" y="1152049"/>
            <a:ext cx="4374832" cy="4924901"/>
            <a:chOff x="7245668" y="1152049"/>
            <a:chExt cx="4374832" cy="4924901"/>
          </a:xfrm>
        </p:grpSpPr>
        <p:sp>
          <p:nvSpPr>
            <p:cNvPr id="61" name="TextBox 61"/>
            <p:cNvSpPr txBox="1"/>
            <p:nvPr/>
          </p:nvSpPr>
          <p:spPr>
            <a:xfrm>
              <a:off x="7245668" y="1152049"/>
              <a:ext cx="1232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局限 · LIMITATIONS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7273249" y="1449926"/>
              <a:ext cx="160095" cy="137543"/>
              <a:chOff x="7273249" y="1449926"/>
              <a:chExt cx="160095" cy="13754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53300" y="1500188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73249" y="1449926"/>
                <a:ext cx="160095" cy="137543"/>
              </a:xfrm>
              <a:custGeom>
                <a:avLst/>
                <a:gdLst/>
                <a:ahLst/>
                <a:cxnLst/>
                <a:rect l="l" t="t" r="r" b="b"/>
                <a:pathLst>
                  <a:path w="160095" h="137543">
                    <a:moveTo>
                      <a:pt x="67057" y="7328"/>
                    </a:moveTo>
                    <a:lnTo>
                      <a:pt x="2716" y="114754"/>
                    </a:lnTo>
                    <a:cubicBezTo>
                      <a:pt x="16" y="119428"/>
                      <a:pt x="0" y="125184"/>
                      <a:pt x="2672" y="129873"/>
                    </a:cubicBezTo>
                    <a:cubicBezTo>
                      <a:pt x="5344" y="134563"/>
                      <a:pt x="10304" y="137482"/>
                      <a:pt x="15701" y="137543"/>
                    </a:cubicBezTo>
                    <a:lnTo>
                      <a:pt x="144400" y="137543"/>
                    </a:lnTo>
                    <a:cubicBezTo>
                      <a:pt x="149795" y="137481"/>
                      <a:pt x="154752" y="134562"/>
                      <a:pt x="157423" y="129875"/>
                    </a:cubicBezTo>
                    <a:cubicBezTo>
                      <a:pt x="160095" y="125188"/>
                      <a:pt x="160081" y="119436"/>
                      <a:pt x="157386" y="114762"/>
                    </a:cubicBezTo>
                    <a:lnTo>
                      <a:pt x="93044" y="7320"/>
                    </a:lnTo>
                    <a:cubicBezTo>
                      <a:pt x="90291" y="2776"/>
                      <a:pt x="85364" y="0"/>
                      <a:pt x="80051" y="0"/>
                    </a:cubicBezTo>
                    <a:cubicBezTo>
                      <a:pt x="74737" y="0"/>
                      <a:pt x="69810" y="2776"/>
                      <a:pt x="67057" y="7320"/>
                    </a:cubicBez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353300" y="1555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511415" y="146780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低频样本极少（8.1%），少数类召回受限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7273249" y="1792826"/>
              <a:ext cx="160095" cy="137543"/>
              <a:chOff x="7273249" y="1792826"/>
              <a:chExt cx="160095" cy="13754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53300" y="1843088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73249" y="1792826"/>
                <a:ext cx="160095" cy="137543"/>
              </a:xfrm>
              <a:custGeom>
                <a:avLst/>
                <a:gdLst/>
                <a:ahLst/>
                <a:cxnLst/>
                <a:rect l="l" t="t" r="r" b="b"/>
                <a:pathLst>
                  <a:path w="160095" h="137543">
                    <a:moveTo>
                      <a:pt x="67057" y="7328"/>
                    </a:moveTo>
                    <a:lnTo>
                      <a:pt x="2716" y="114754"/>
                    </a:lnTo>
                    <a:cubicBezTo>
                      <a:pt x="16" y="119428"/>
                      <a:pt x="0" y="125184"/>
                      <a:pt x="2672" y="129873"/>
                    </a:cubicBezTo>
                    <a:cubicBezTo>
                      <a:pt x="5344" y="134563"/>
                      <a:pt x="10304" y="137482"/>
                      <a:pt x="15701" y="137543"/>
                    </a:cubicBezTo>
                    <a:lnTo>
                      <a:pt x="144400" y="137543"/>
                    </a:lnTo>
                    <a:cubicBezTo>
                      <a:pt x="149795" y="137481"/>
                      <a:pt x="154752" y="134562"/>
                      <a:pt x="157423" y="129875"/>
                    </a:cubicBezTo>
                    <a:cubicBezTo>
                      <a:pt x="160095" y="125188"/>
                      <a:pt x="160081" y="119436"/>
                      <a:pt x="157386" y="114762"/>
                    </a:cubicBezTo>
                    <a:lnTo>
                      <a:pt x="93044" y="7320"/>
                    </a:lnTo>
                    <a:cubicBezTo>
                      <a:pt x="90291" y="2776"/>
                      <a:pt x="85364" y="0"/>
                      <a:pt x="80051" y="0"/>
                    </a:cubicBezTo>
                    <a:cubicBezTo>
                      <a:pt x="74737" y="0"/>
                      <a:pt x="69810" y="2776"/>
                      <a:pt x="67057" y="7320"/>
                    </a:cubicBez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353300" y="1898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511415" y="18107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PCA 可分性低，二维难以线性分离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7273249" y="2135726"/>
              <a:ext cx="160095" cy="137543"/>
              <a:chOff x="7273249" y="2135726"/>
              <a:chExt cx="160095" cy="13754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53300" y="2185988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73249" y="2135726"/>
                <a:ext cx="160095" cy="137543"/>
              </a:xfrm>
              <a:custGeom>
                <a:avLst/>
                <a:gdLst/>
                <a:ahLst/>
                <a:cxnLst/>
                <a:rect l="l" t="t" r="r" b="b"/>
                <a:pathLst>
                  <a:path w="160095" h="137543">
                    <a:moveTo>
                      <a:pt x="67057" y="7328"/>
                    </a:moveTo>
                    <a:lnTo>
                      <a:pt x="2716" y="114754"/>
                    </a:lnTo>
                    <a:cubicBezTo>
                      <a:pt x="16" y="119428"/>
                      <a:pt x="0" y="125184"/>
                      <a:pt x="2672" y="129873"/>
                    </a:cubicBezTo>
                    <a:cubicBezTo>
                      <a:pt x="5344" y="134563"/>
                      <a:pt x="10304" y="137482"/>
                      <a:pt x="15701" y="137543"/>
                    </a:cubicBezTo>
                    <a:lnTo>
                      <a:pt x="144400" y="137543"/>
                    </a:lnTo>
                    <a:cubicBezTo>
                      <a:pt x="149795" y="137481"/>
                      <a:pt x="154752" y="134562"/>
                      <a:pt x="157423" y="129875"/>
                    </a:cubicBezTo>
                    <a:cubicBezTo>
                      <a:pt x="160095" y="125188"/>
                      <a:pt x="160081" y="119436"/>
                      <a:pt x="157386" y="114762"/>
                    </a:cubicBezTo>
                    <a:lnTo>
                      <a:pt x="93044" y="7320"/>
                    </a:lnTo>
                    <a:cubicBezTo>
                      <a:pt x="90291" y="2776"/>
                      <a:pt x="85364" y="0"/>
                      <a:pt x="80051" y="0"/>
                    </a:cubicBezTo>
                    <a:cubicBezTo>
                      <a:pt x="74737" y="0"/>
                      <a:pt x="69810" y="2776"/>
                      <a:pt x="67057" y="7320"/>
                    </a:cubicBez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353300" y="2241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C77700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511415" y="21536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问卷自填数据存在主观偏差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7258050" y="2590800"/>
              <a:ext cx="4362450" cy="9525"/>
            </a:xfrm>
            <a:custGeom>
              <a:avLst/>
              <a:gdLst/>
              <a:ahLst/>
              <a:cxnLst/>
              <a:rect l="l" t="t" r="r" b="b"/>
              <a:pathLst>
                <a:path w="4362450" h="9525">
                  <a:moveTo>
                    <a:pt x="0" y="0"/>
                  </a:moveTo>
                  <a:lnTo>
                    <a:pt x="4362450" y="0"/>
                  </a:lnTo>
                </a:path>
              </a:pathLst>
            </a:custGeom>
            <a:noFill/>
            <a:ln w="9525">
              <a:solidFill>
                <a:srgbClr val="D4D0C4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45668" y="2847499"/>
              <a:ext cx="13012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展望 · FUTURE WORK</a:t>
              </a: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7297738" y="3148761"/>
              <a:ext cx="111125" cy="142126"/>
              <a:chOff x="7297738" y="3148761"/>
              <a:chExt cx="111125" cy="1421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297738" y="3148761"/>
                <a:ext cx="111125" cy="10169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1691">
                    <a:moveTo>
                      <a:pt x="0" y="15127"/>
                    </a:moveTo>
                    <a:cubicBezTo>
                      <a:pt x="15432" y="0"/>
                      <a:pt x="40130" y="0"/>
                      <a:pt x="55563" y="15127"/>
                    </a:cubicBezTo>
                    <a:cubicBezTo>
                      <a:pt x="70995" y="30253"/>
                      <a:pt x="95693" y="30253"/>
                      <a:pt x="111125" y="15127"/>
                    </a:cubicBezTo>
                    <a:lnTo>
                      <a:pt x="111125" y="86564"/>
                    </a:lnTo>
                    <a:cubicBezTo>
                      <a:pt x="95693" y="101691"/>
                      <a:pt x="70995" y="101691"/>
                      <a:pt x="55563" y="86564"/>
                    </a:cubicBezTo>
                    <a:cubicBezTo>
                      <a:pt x="40130" y="71438"/>
                      <a:pt x="15432" y="71438"/>
                      <a:pt x="0" y="86564"/>
                    </a:cubicBezTo>
                    <a:lnTo>
                      <a:pt x="0" y="15127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297738" y="3235325"/>
                <a:ext cx="9525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562">
                    <a:moveTo>
                      <a:pt x="0" y="555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511415" y="31632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针对低频组的精细过采样策略</a:t>
              </a:r>
            </a:p>
          </p:txBody>
        </p:sp>
        <p:grpSp>
          <p:nvGrpSpPr>
            <p:cNvPr id="85" name="Group 85"/>
            <p:cNvGrpSpPr/>
            <p:nvPr/>
          </p:nvGrpSpPr>
          <p:grpSpPr>
            <a:xfrm>
              <a:off x="7297738" y="3491661"/>
              <a:ext cx="111125" cy="142126"/>
              <a:chOff x="7297738" y="3491661"/>
              <a:chExt cx="111125" cy="1421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297738" y="3491661"/>
                <a:ext cx="111125" cy="10169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1691">
                    <a:moveTo>
                      <a:pt x="0" y="15127"/>
                    </a:moveTo>
                    <a:cubicBezTo>
                      <a:pt x="15432" y="0"/>
                      <a:pt x="40130" y="0"/>
                      <a:pt x="55563" y="15127"/>
                    </a:cubicBezTo>
                    <a:cubicBezTo>
                      <a:pt x="70995" y="30253"/>
                      <a:pt x="95693" y="30253"/>
                      <a:pt x="111125" y="15127"/>
                    </a:cubicBezTo>
                    <a:lnTo>
                      <a:pt x="111125" y="86564"/>
                    </a:lnTo>
                    <a:cubicBezTo>
                      <a:pt x="95693" y="101691"/>
                      <a:pt x="70995" y="101691"/>
                      <a:pt x="55563" y="86564"/>
                    </a:cubicBezTo>
                    <a:cubicBezTo>
                      <a:pt x="40130" y="71438"/>
                      <a:pt x="15432" y="71438"/>
                      <a:pt x="0" y="86564"/>
                    </a:cubicBezTo>
                    <a:lnTo>
                      <a:pt x="0" y="15127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297738" y="3578225"/>
                <a:ext cx="9525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562">
                    <a:moveTo>
                      <a:pt x="0" y="555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511415" y="3506152"/>
              <a:ext cx="25679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引入非线性模型（梯度提升 / 神经网络）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7297738" y="3834561"/>
              <a:ext cx="111125" cy="142126"/>
              <a:chOff x="7297738" y="3834561"/>
              <a:chExt cx="111125" cy="1421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297738" y="3834561"/>
                <a:ext cx="111125" cy="10169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1691">
                    <a:moveTo>
                      <a:pt x="0" y="15127"/>
                    </a:moveTo>
                    <a:cubicBezTo>
                      <a:pt x="15432" y="0"/>
                      <a:pt x="40130" y="0"/>
                      <a:pt x="55563" y="15127"/>
                    </a:cubicBezTo>
                    <a:cubicBezTo>
                      <a:pt x="70995" y="30253"/>
                      <a:pt x="95693" y="30253"/>
                      <a:pt x="111125" y="15127"/>
                    </a:cubicBezTo>
                    <a:lnTo>
                      <a:pt x="111125" y="86564"/>
                    </a:lnTo>
                    <a:cubicBezTo>
                      <a:pt x="95693" y="101691"/>
                      <a:pt x="70995" y="101691"/>
                      <a:pt x="55563" y="86564"/>
                    </a:cubicBezTo>
                    <a:cubicBezTo>
                      <a:pt x="40130" y="71438"/>
                      <a:pt x="15432" y="71438"/>
                      <a:pt x="0" y="86564"/>
                    </a:cubicBezTo>
                    <a:lnTo>
                      <a:pt x="0" y="15127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297738" y="3921125"/>
                <a:ext cx="9525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562">
                    <a:moveTo>
                      <a:pt x="0" y="555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511415" y="38490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纵向追踪，刻画使用频率的动态变化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58050" y="4267200"/>
              <a:ext cx="4362450" cy="1809750"/>
            </a:xfrm>
            <a:prstGeom prst="roundRect">
              <a:avLst>
                <a:gd name="adj" fmla="val 5263"/>
              </a:avLst>
            </a:prstGeom>
            <a:solidFill>
              <a:srgbClr val="F3F1EC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517606" y="4526756"/>
              <a:ext cx="185738" cy="185738"/>
              <a:chOff x="7517606" y="4526756"/>
              <a:chExt cx="185738" cy="185738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7517606" y="4526756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0" y="92869"/>
                    </a:moveTo>
                    <a:lnTo>
                      <a:pt x="10319" y="92869"/>
                    </a:lnTo>
                    <a:moveTo>
                      <a:pt x="92869" y="0"/>
                    </a:moveTo>
                    <a:lnTo>
                      <a:pt x="92869" y="10319"/>
                    </a:lnTo>
                    <a:moveTo>
                      <a:pt x="175419" y="92869"/>
                    </a:moveTo>
                    <a:lnTo>
                      <a:pt x="185738" y="92869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9" y="26829"/>
                    </a:moveTo>
                    <a:lnTo>
                      <a:pt x="151686" y="34052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554506" y="4568031"/>
                <a:ext cx="111938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11938" h="144463">
                    <a:moveTo>
                      <a:pt x="25013" y="92869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8" y="56346"/>
                      <a:pt x="104691" y="79544"/>
                      <a:pt x="86925" y="92869"/>
                    </a:cubicBezTo>
                    <a:cubicBezTo>
                      <a:pt x="78754" y="100957"/>
                      <a:pt x="74923" y="112452"/>
                      <a:pt x="76606" y="123825"/>
                    </a:cubicBezTo>
                    <a:cubicBezTo>
                      <a:pt x="76606" y="135223"/>
                      <a:pt x="67367" y="144463"/>
                      <a:pt x="55969" y="144463"/>
                    </a:cubicBezTo>
                    <a:cubicBezTo>
                      <a:pt x="44571" y="144463"/>
                      <a:pt x="35331" y="135223"/>
                      <a:pt x="35331" y="123825"/>
                    </a:cubicBezTo>
                    <a:cubicBezTo>
                      <a:pt x="37015" y="112452"/>
                      <a:pt x="33183" y="100957"/>
                      <a:pt x="25013" y="92869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586742" y="4671219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7814310" y="45567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一句话总结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471410" y="4899660"/>
              <a:ext cx="2316480" cy="7391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生成式AI使用频率的高低，</a:t>
              </a:r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可由</a:t>
              </a:r>
              <a:r>
                <a:rPr lang="zh-CN" sz="1200" b="1" dirty="0">
                  <a:solidFill>
                    <a:srgbClr val="B11226"/>
                  </a:solidFill>
                  <a:latin typeface="Arial"/>
                  <a:ea typeface="Microsoft YaHei"/>
                  <a:cs typeface="Arial"/>
                </a:rPr>
                <a:t>产品广度与功能取向</a:t>
              </a:r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预测，</a:t>
              </a:r>
              <a:r>
                <a:rPr lang="zh-CN" sz="1200" dirty="0">
                  <a:solidFill>
                    <a:srgbClr val="23262B"/>
                  </a:solidFill>
                  <a:latin typeface="Arial"/>
                  <a:ea typeface="Microsoft YaHei"/>
                  <a:cs typeface="Arial"/>
                </a:rPr>
                <a:t>但低频样本稀缺制约了精度上限。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61022" y="6572250"/>
            <a:ext cx="11069955" cy="250031"/>
            <a:chOff x="561022" y="6572250"/>
            <a:chExt cx="11069955" cy="250031"/>
          </a:xfrm>
        </p:grpSpPr>
        <p:sp>
          <p:nvSpPr>
            <p:cNvPr id="99" name="Line 99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561022" y="6654641"/>
              <a:ext cx="23972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结论汇总：results/experiment_summary.txt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41476" y="66546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9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3C6E">
                    <a:alpha val="10000"/>
                  </a:srgbClr>
                </a:gs>
                <a:gs pos="100000">
                  <a:srgbClr val="1A3C6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76200"/>
              <a:ext cx="12192000" cy="19050"/>
            </a:xfrm>
            <a:prstGeom prst="rect">
              <a:avLst/>
            </a:prstGeom>
            <a:solidFill>
              <a:srgbClr val="1A3C6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339590" y="1819275"/>
            <a:ext cx="3512820" cy="2652713"/>
            <a:chOff x="4339590" y="1819275"/>
            <a:chExt cx="3512820" cy="2652713"/>
          </a:xfrm>
        </p:grpSpPr>
        <p:grpSp>
          <p:nvGrpSpPr>
            <p:cNvPr id="11" name="Group 11"/>
            <p:cNvGrpSpPr/>
            <p:nvPr/>
          </p:nvGrpSpPr>
          <p:grpSpPr>
            <a:xfrm>
              <a:off x="5781675" y="1819275"/>
              <a:ext cx="628650" cy="628650"/>
              <a:chOff x="5781675" y="1819275"/>
              <a:chExt cx="628650" cy="6286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781675" y="1819275"/>
                <a:ext cx="628650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628650">
                    <a:moveTo>
                      <a:pt x="0" y="314325"/>
                    </a:moveTo>
                    <a:cubicBezTo>
                      <a:pt x="0" y="487922"/>
                      <a:pt x="140728" y="628650"/>
                      <a:pt x="314325" y="628650"/>
                    </a:cubicBezTo>
                    <a:cubicBezTo>
                      <a:pt x="487922" y="628650"/>
                      <a:pt x="628650" y="487922"/>
                      <a:pt x="628650" y="314325"/>
                    </a:cubicBezTo>
                    <a:cubicBezTo>
                      <a:pt x="628650" y="140728"/>
                      <a:pt x="487922" y="0"/>
                      <a:pt x="314325" y="0"/>
                    </a:cubicBezTo>
                    <a:cubicBezTo>
                      <a:pt x="140728" y="0"/>
                      <a:pt x="0" y="140728"/>
                      <a:pt x="0" y="314325"/>
                    </a:cubicBez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991225" y="206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49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200775" y="206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49" y="0"/>
                    </a:ln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08688" y="2238375"/>
                <a:ext cx="174625" cy="36689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36689">
                    <a:moveTo>
                      <a:pt x="0" y="0"/>
                    </a:moveTo>
                    <a:cubicBezTo>
                      <a:pt x="22992" y="23466"/>
                      <a:pt x="54461" y="36689"/>
                      <a:pt x="87312" y="36689"/>
                    </a:cubicBezTo>
                    <a:cubicBezTo>
                      <a:pt x="120164" y="36689"/>
                      <a:pt x="151633" y="23466"/>
                      <a:pt x="174625" y="0"/>
                    </a:cubicBezTo>
                  </a:path>
                </a:pathLst>
              </a:custGeom>
              <a:noFill/>
              <a:ln w="19050">
                <a:solidFill>
                  <a:srgbClr val="B11226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4339590" y="2857500"/>
              <a:ext cx="351282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谢谢聆听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771900"/>
              <a:ext cx="1524000" cy="57150"/>
            </a:xfrm>
            <a:prstGeom prst="roundRect">
              <a:avLst>
                <a:gd name="adj" fmla="val 50000"/>
              </a:avLst>
            </a:prstGeom>
            <a:solidFill>
              <a:srgbClr val="B1122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161121" y="4075748"/>
              <a:ext cx="1869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欢迎提问与指正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38500" y="4762500"/>
            <a:ext cx="5715000" cy="800100"/>
            <a:chOff x="3238500" y="4762500"/>
            <a:chExt cx="5715000" cy="800100"/>
          </a:xfrm>
        </p:grpSpPr>
        <p:sp>
          <p:nvSpPr>
            <p:cNvPr id="16" name="Rectangle 16"/>
            <p:cNvSpPr/>
            <p:nvPr/>
          </p:nvSpPr>
          <p:spPr>
            <a:xfrm>
              <a:off x="3238500" y="4762500"/>
              <a:ext cx="5715000" cy="800100"/>
            </a:xfrm>
            <a:prstGeom prst="roundRect">
              <a:avLst>
                <a:gd name="adj" fmla="val 14286"/>
              </a:avLst>
            </a:prstGeom>
            <a:solidFill>
              <a:srgbClr val="F3F1E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534690" y="5070799"/>
              <a:ext cx="207520" cy="180651"/>
            </a:xfrm>
            <a:custGeom>
              <a:avLst/>
              <a:gdLst/>
              <a:ahLst/>
              <a:cxnLst/>
              <a:rect l="l" t="t" r="r" b="b"/>
              <a:pathLst>
                <a:path w="207520" h="180651">
                  <a:moveTo>
                    <a:pt x="187204" y="98107"/>
                  </a:moveTo>
                  <a:lnTo>
                    <a:pt x="103860" y="180651"/>
                  </a:lnTo>
                  <a:lnTo>
                    <a:pt x="20517" y="98107"/>
                  </a:lnTo>
                  <a:cubicBezTo>
                    <a:pt x="5529" y="83523"/>
                    <a:pt x="0" y="61759"/>
                    <a:pt x="6209" y="41789"/>
                  </a:cubicBezTo>
                  <a:cubicBezTo>
                    <a:pt x="12418" y="21820"/>
                    <a:pt x="29314" y="7029"/>
                    <a:pt x="49929" y="3514"/>
                  </a:cubicBezTo>
                  <a:cubicBezTo>
                    <a:pt x="70544" y="0"/>
                    <a:pt x="91386" y="8358"/>
                    <a:pt x="103860" y="25143"/>
                  </a:cubicBezTo>
                  <a:cubicBezTo>
                    <a:pt x="116387" y="8483"/>
                    <a:pt x="137185" y="235"/>
                    <a:pt x="157725" y="3782"/>
                  </a:cubicBezTo>
                  <a:cubicBezTo>
                    <a:pt x="178265" y="7329"/>
                    <a:pt x="195092" y="22074"/>
                    <a:pt x="201306" y="41971"/>
                  </a:cubicBezTo>
                  <a:cubicBezTo>
                    <a:pt x="207520" y="61867"/>
                    <a:pt x="202075" y="83568"/>
                    <a:pt x="187204" y="98174"/>
                  </a:cubicBezTo>
                </a:path>
              </a:pathLst>
            </a:custGeom>
            <a:noFill/>
            <a:ln w="19050">
              <a:solidFill>
                <a:srgbClr val="B1122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50201" y="499776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C6E"/>
                  </a:solidFill>
                  <a:latin typeface="Arial"/>
                  <a:ea typeface="Microsoft YaHei"/>
                  <a:cs typeface="Arial"/>
                </a:rPr>
                <a:t>感谢老师与同学的指导与建议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1901" y="5296852"/>
              <a:ext cx="4248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6606B"/>
                  </a:solidFill>
                  <a:latin typeface="Arial"/>
                  <a:ea typeface="Microsoft YaHei"/>
                  <a:cs typeface="Arial"/>
                </a:rPr>
                <a:t>大学生生成式人工智能使用频率影响因素研究 · 模式识别课程大作业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6362700"/>
            <a:ext cx="11049000" cy="366712"/>
            <a:chOff x="571500" y="6362700"/>
            <a:chExt cx="11049000" cy="366712"/>
          </a:xfrm>
        </p:grpSpPr>
        <p:sp>
          <p:nvSpPr>
            <p:cNvPr id="21" name="Line 21"/>
            <p:cNvSpPr/>
            <p:nvPr/>
          </p:nvSpPr>
          <p:spPr>
            <a:xfrm>
              <a:off x="571500" y="6362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3D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87116" y="651605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949D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2026-06-17T03:08:55Z</dcterms:created>
  <dcterms:modified xsi:type="dcterms:W3CDTF">2026-06-17T03:08:55Z</dcterms:modified>
  <cp:category/>
  <cp:contentStatus/>
</cp:coreProperties>
</file>